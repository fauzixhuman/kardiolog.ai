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65" r:id="rId17"/>
    <p:sldId id="266" r:id="rId18"/>
  </p:sldIdLst>
  <p:sldSz cx="12192000" cy="6858000"/>
  <p:notesSz cx="6858000" cy="9144000"/>
  <p:embeddedFontLst>
    <p:embeddedFont>
      <p:font typeface="Lato" panose="020F0502020204030203" pitchFamily="34" charset="0"/>
      <p:regular r:id="rId20"/>
      <p:bold r:id="rId21"/>
      <p:italic r:id="rId22"/>
      <p:boldItalic r:id="rId23"/>
    </p:embeddedFont>
    <p:embeddedFont>
      <p:font typeface="Poppins" panose="000005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9063F9E4-AD87-9BE9-33BA-1A742DDA570C}"/>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28548581-FE54-B9AB-D442-8647A10A60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0223E866-758A-6941-D74C-22441B536C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629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1FDEEDFA-0F74-7430-04C3-E94678736E8C}"/>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BA067C24-B4C1-5827-DC81-B1A6B970C4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7F2EAA8D-2D26-8783-FACB-126A64596F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798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D93ADCE9-9FC8-6E57-58E2-80B6B1B01106}"/>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F24AB58A-74AB-336E-37C7-40F297BEFE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B0638E68-4C36-3356-43E4-924D28D2BF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9112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BC0D651D-F0EA-F388-DE3C-A71C6B9B0B70}"/>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7FDDCC88-D82C-8351-0A9B-AA3E8CCA9F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5C39BED8-1767-F556-B90B-DFB515BF79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638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149B0266-3AF2-0E9B-0BB5-90BF98B8192D}"/>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A6864A22-33D1-91FC-A783-7D9605999A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04F843DB-66A3-99F7-5A55-C15FA4990E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3636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5C8CA208-2B27-7094-6959-F23AAE46E0F1}"/>
            </a:ext>
          </a:extLst>
        </p:cNvPr>
        <p:cNvGrpSpPr/>
        <p:nvPr/>
      </p:nvGrpSpPr>
      <p:grpSpPr>
        <a:xfrm>
          <a:off x="0" y="0"/>
          <a:ext cx="0" cy="0"/>
          <a:chOff x="0" y="0"/>
          <a:chExt cx="0" cy="0"/>
        </a:xfrm>
      </p:grpSpPr>
      <p:sp>
        <p:nvSpPr>
          <p:cNvPr id="215" name="Google Shape;215;p9:notes">
            <a:extLst>
              <a:ext uri="{FF2B5EF4-FFF2-40B4-BE49-F238E27FC236}">
                <a16:creationId xmlns:a16="http://schemas.microsoft.com/office/drawing/2014/main" id="{B04BD7C6-2FAA-0E5D-07E0-7444BC9F7E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9:notes">
            <a:extLst>
              <a:ext uri="{FF2B5EF4-FFF2-40B4-BE49-F238E27FC236}">
                <a16:creationId xmlns:a16="http://schemas.microsoft.com/office/drawing/2014/main" id="{9CAEAA03-B48C-471C-7B93-A6A4D8E3B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882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0.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4181326"/>
            <a:ext cx="5286375" cy="1032271"/>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6334125" y="0"/>
            <a:ext cx="5857875" cy="685800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6334125" y="0"/>
            <a:ext cx="5857875" cy="6858000"/>
          </a:xfrm>
          <a:prstGeom prst="rect">
            <a:avLst/>
          </a:prstGeom>
          <a:noFill/>
          <a:ln>
            <a:noFill/>
          </a:ln>
        </p:spPr>
      </p:pic>
      <p:sp>
        <p:nvSpPr>
          <p:cNvPr id="88" name="Google Shape;88;p13"/>
          <p:cNvSpPr txBox="1"/>
          <p:nvPr/>
        </p:nvSpPr>
        <p:spPr>
          <a:xfrm>
            <a:off x="571500" y="1491853"/>
            <a:ext cx="5550693" cy="1782812"/>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0F172A"/>
                </a:solidFill>
                <a:latin typeface="Poppins"/>
                <a:ea typeface="Poppins"/>
                <a:cs typeface="Poppins"/>
                <a:sym typeface="Poppins"/>
              </a:rPr>
              <a:t>Sistem Skrining Kelainan Suara Jantung (PCG)</a:t>
            </a:r>
            <a:endParaRPr/>
          </a:p>
        </p:txBody>
      </p:sp>
      <p:sp>
        <p:nvSpPr>
          <p:cNvPr id="89" name="Google Shape;89;p13"/>
          <p:cNvSpPr txBox="1"/>
          <p:nvPr/>
        </p:nvSpPr>
        <p:spPr>
          <a:xfrm>
            <a:off x="571500" y="3665190"/>
            <a:ext cx="528637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0284C7"/>
                </a:solidFill>
                <a:latin typeface="Lato"/>
                <a:ea typeface="Lato"/>
                <a:cs typeface="Lato"/>
                <a:sym typeface="Lato"/>
              </a:rPr>
              <a:t>Menggunakan</a:t>
            </a:r>
            <a:r>
              <a:rPr lang="en-US" sz="1650" b="0" i="0" u="none" strike="noStrike" cap="none" dirty="0">
                <a:solidFill>
                  <a:srgbClr val="0284C7"/>
                </a:solidFill>
                <a:latin typeface="Lato"/>
                <a:ea typeface="Lato"/>
                <a:cs typeface="Lato"/>
                <a:sym typeface="Lato"/>
              </a:rPr>
              <a:t> Triple Ensemble Machine Learning</a:t>
            </a:r>
            <a:endParaRPr dirty="0"/>
          </a:p>
        </p:txBody>
      </p:sp>
      <p:sp>
        <p:nvSpPr>
          <p:cNvPr id="90" name="Google Shape;90;p13"/>
          <p:cNvSpPr txBox="1"/>
          <p:nvPr/>
        </p:nvSpPr>
        <p:spPr>
          <a:xfrm>
            <a:off x="571500" y="4390876"/>
            <a:ext cx="528637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Disusun oleh:</a:t>
            </a:r>
            <a:endParaRPr/>
          </a:p>
        </p:txBody>
      </p:sp>
      <p:sp>
        <p:nvSpPr>
          <p:cNvPr id="91" name="Google Shape;91;p13"/>
          <p:cNvSpPr txBox="1"/>
          <p:nvPr/>
        </p:nvSpPr>
        <p:spPr>
          <a:xfrm>
            <a:off x="571500" y="4878437"/>
            <a:ext cx="5286375"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475569"/>
                </a:solidFill>
                <a:latin typeface="Lato"/>
                <a:ea typeface="Lato"/>
                <a:cs typeface="Lato"/>
                <a:sym typeface="Lato"/>
              </a:rPr>
              <a:t>Ahmad Fauzi | A11.2024.15948</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571500" y="1924050"/>
            <a:ext cx="3492549" cy="3962251"/>
          </a:xfrm>
          <a:prstGeom prst="rect">
            <a:avLst/>
          </a:prstGeom>
          <a:noFill/>
          <a:ln>
            <a:noFill/>
          </a:ln>
        </p:spPr>
      </p:pic>
      <p:pic>
        <p:nvPicPr>
          <p:cNvPr id="98" name="Google Shape;98;p14" descr="image.png"/>
          <p:cNvPicPr preferRelativeResize="0"/>
          <p:nvPr/>
        </p:nvPicPr>
        <p:blipFill rotWithShape="1">
          <a:blip r:embed="rId5">
            <a:alphaModFix/>
          </a:blip>
          <a:srcRect/>
          <a:stretch/>
        </p:blipFill>
        <p:spPr>
          <a:xfrm>
            <a:off x="4349799" y="1924050"/>
            <a:ext cx="3492549" cy="3962251"/>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8128099" y="1924050"/>
            <a:ext cx="3492549" cy="3962251"/>
          </a:xfrm>
          <a:prstGeom prst="rect">
            <a:avLst/>
          </a:prstGeom>
          <a:noFill/>
          <a:ln>
            <a:noFill/>
          </a:ln>
        </p:spPr>
      </p:pic>
      <p:pic>
        <p:nvPicPr>
          <p:cNvPr id="100" name="Google Shape;100;p14" descr="image.png"/>
          <p:cNvPicPr preferRelativeResize="0"/>
          <p:nvPr/>
        </p:nvPicPr>
        <p:blipFill rotWithShape="1">
          <a:blip r:embed="rId7">
            <a:alphaModFix/>
          </a:blip>
          <a:srcRect/>
          <a:stretch/>
        </p:blipFill>
        <p:spPr>
          <a:xfrm>
            <a:off x="1841450" y="2314575"/>
            <a:ext cx="952500" cy="952500"/>
          </a:xfrm>
          <a:prstGeom prst="rect">
            <a:avLst/>
          </a:prstGeom>
          <a:noFill/>
          <a:ln>
            <a:noFill/>
          </a:ln>
        </p:spPr>
      </p:pic>
      <p:sp>
        <p:nvSpPr>
          <p:cNvPr id="101" name="Google Shape;101;p14"/>
          <p:cNvSpPr txBox="1"/>
          <p:nvPr/>
        </p:nvSpPr>
        <p:spPr>
          <a:xfrm>
            <a:off x="1157555" y="3505200"/>
            <a:ext cx="232029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Diagnosis Subjektif</a:t>
            </a:r>
            <a:endParaRPr/>
          </a:p>
        </p:txBody>
      </p:sp>
      <p:sp>
        <p:nvSpPr>
          <p:cNvPr id="102" name="Google Shape;102;p14"/>
          <p:cNvSpPr txBox="1"/>
          <p:nvPr/>
        </p:nvSpPr>
        <p:spPr>
          <a:xfrm>
            <a:off x="866775" y="3981450"/>
            <a:ext cx="2901999"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Diagnosis kelainan jantung (murmur) dengan stetoskop manual sangat rentan terhadap kesalahan dan sangat bergantung pada pengalaman dokter.</a:t>
            </a:r>
            <a:endParaRPr/>
          </a:p>
        </p:txBody>
      </p:sp>
      <p:pic>
        <p:nvPicPr>
          <p:cNvPr id="103" name="Google Shape;103;p14" descr="image.png"/>
          <p:cNvPicPr preferRelativeResize="0"/>
          <p:nvPr/>
        </p:nvPicPr>
        <p:blipFill rotWithShape="1">
          <a:blip r:embed="rId8">
            <a:alphaModFix/>
          </a:blip>
          <a:srcRect/>
          <a:stretch/>
        </p:blipFill>
        <p:spPr>
          <a:xfrm>
            <a:off x="5619750" y="2314575"/>
            <a:ext cx="952500" cy="952500"/>
          </a:xfrm>
          <a:prstGeom prst="rect">
            <a:avLst/>
          </a:prstGeom>
          <a:noFill/>
          <a:ln>
            <a:noFill/>
          </a:ln>
        </p:spPr>
      </p:pic>
      <p:sp>
        <p:nvSpPr>
          <p:cNvPr id="104" name="Google Shape;104;p14"/>
          <p:cNvSpPr txBox="1"/>
          <p:nvPr/>
        </p:nvSpPr>
        <p:spPr>
          <a:xfrm>
            <a:off x="4960858" y="3505200"/>
            <a:ext cx="2270283"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Lingkungan Bising</a:t>
            </a:r>
            <a:endParaRPr/>
          </a:p>
        </p:txBody>
      </p:sp>
      <p:sp>
        <p:nvSpPr>
          <p:cNvPr id="105" name="Google Shape;105;p14"/>
          <p:cNvSpPr txBox="1"/>
          <p:nvPr/>
        </p:nvSpPr>
        <p:spPr>
          <a:xfrm>
            <a:off x="4645074" y="3981450"/>
            <a:ext cx="2901999"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Kondisi klinis dan rumah sakit yang bising membuat tenaga medis kesulitan untuk mendeteksi suara detak jantung abnormal secara akurat.</a:t>
            </a:r>
            <a:endParaRPr/>
          </a:p>
        </p:txBody>
      </p:sp>
      <p:pic>
        <p:nvPicPr>
          <p:cNvPr id="106" name="Google Shape;106;p14" descr="image.png"/>
          <p:cNvPicPr preferRelativeResize="0"/>
          <p:nvPr/>
        </p:nvPicPr>
        <p:blipFill rotWithShape="1">
          <a:blip r:embed="rId9">
            <a:alphaModFix/>
          </a:blip>
          <a:srcRect/>
          <a:stretch/>
        </p:blipFill>
        <p:spPr>
          <a:xfrm>
            <a:off x="9398049" y="2314575"/>
            <a:ext cx="952500" cy="952500"/>
          </a:xfrm>
          <a:prstGeom prst="rect">
            <a:avLst/>
          </a:prstGeom>
          <a:noFill/>
          <a:ln>
            <a:noFill/>
          </a:ln>
        </p:spPr>
      </p:pic>
      <p:sp>
        <p:nvSpPr>
          <p:cNvPr id="107" name="Google Shape;107;p14"/>
          <p:cNvSpPr txBox="1"/>
          <p:nvPr/>
        </p:nvSpPr>
        <p:spPr>
          <a:xfrm>
            <a:off x="9369236" y="3505200"/>
            <a:ext cx="1010126"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Solusi AI</a:t>
            </a:r>
            <a:endParaRPr/>
          </a:p>
        </p:txBody>
      </p:sp>
      <p:sp>
        <p:nvSpPr>
          <p:cNvPr id="108" name="Google Shape;108;p14"/>
          <p:cNvSpPr txBox="1"/>
          <p:nvPr/>
        </p:nvSpPr>
        <p:spPr>
          <a:xfrm>
            <a:off x="8423374" y="3981450"/>
            <a:ext cx="2901999" cy="137145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Membangun AI "Triple Ensemble" sebagai alat skrining klinis (Second Opinion) yang cerdas dan kebal terhadap interferensi kebisingan sekitar.</a:t>
            </a:r>
            <a:endParaRPr/>
          </a:p>
        </p:txBody>
      </p:sp>
      <p:pic>
        <p:nvPicPr>
          <p:cNvPr id="109" name="Google Shape;109;p14" descr="image.png"/>
          <p:cNvPicPr preferRelativeResize="0"/>
          <p:nvPr/>
        </p:nvPicPr>
        <p:blipFill rotWithShape="1">
          <a:blip r:embed="rId10">
            <a:alphaModFix/>
          </a:blip>
          <a:srcRect/>
          <a:stretch/>
        </p:blipFill>
        <p:spPr>
          <a:xfrm>
            <a:off x="2084337" y="2524125"/>
            <a:ext cx="466725" cy="533400"/>
          </a:xfrm>
          <a:prstGeom prst="rect">
            <a:avLst/>
          </a:prstGeom>
          <a:noFill/>
          <a:ln>
            <a:noFill/>
          </a:ln>
        </p:spPr>
      </p:pic>
      <p:pic>
        <p:nvPicPr>
          <p:cNvPr id="110" name="Google Shape;110;p14" descr="image.png"/>
          <p:cNvPicPr preferRelativeResize="0"/>
          <p:nvPr/>
        </p:nvPicPr>
        <p:blipFill rotWithShape="1">
          <a:blip r:embed="rId11">
            <a:alphaModFix/>
          </a:blip>
          <a:srcRect/>
          <a:stretch/>
        </p:blipFill>
        <p:spPr>
          <a:xfrm>
            <a:off x="5762625" y="2524125"/>
            <a:ext cx="666750" cy="533400"/>
          </a:xfrm>
          <a:prstGeom prst="rect">
            <a:avLst/>
          </a:prstGeom>
          <a:noFill/>
          <a:ln>
            <a:noFill/>
          </a:ln>
        </p:spPr>
      </p:pic>
      <p:pic>
        <p:nvPicPr>
          <p:cNvPr id="111" name="Google Shape;111;p14" descr="image.png"/>
          <p:cNvPicPr preferRelativeResize="0"/>
          <p:nvPr/>
        </p:nvPicPr>
        <p:blipFill rotWithShape="1">
          <a:blip r:embed="rId12">
            <a:alphaModFix/>
          </a:blip>
          <a:srcRect/>
          <a:stretch/>
        </p:blipFill>
        <p:spPr>
          <a:xfrm>
            <a:off x="9607599" y="2524125"/>
            <a:ext cx="533400" cy="533400"/>
          </a:xfrm>
          <a:prstGeom prst="rect">
            <a:avLst/>
          </a:prstGeom>
          <a:noFill/>
          <a:ln>
            <a:noFill/>
          </a:ln>
        </p:spPr>
      </p:pic>
      <p:sp>
        <p:nvSpPr>
          <p:cNvPr id="112" name="Google Shape;112;p14"/>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Latar Belakang &amp; Masalah</a:t>
            </a:r>
            <a:endParaRPr/>
          </a:p>
        </p:txBody>
      </p:sp>
      <p:sp>
        <p:nvSpPr>
          <p:cNvPr id="113" name="Google Shape;113;p14"/>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
        <p:cNvGrpSpPr/>
        <p:nvPr/>
      </p:nvGrpSpPr>
      <p:grpSpPr>
        <a:xfrm>
          <a:off x="0" y="0"/>
          <a:ext cx="0" cy="0"/>
          <a:chOff x="0" y="0"/>
          <a:chExt cx="0" cy="0"/>
        </a:xfrm>
      </p:grpSpPr>
      <p:pic>
        <p:nvPicPr>
          <p:cNvPr id="118" name="Google Shape;11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9" name="Google Shape;119;p15"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120" name="Google Shape;120;p15"/>
          <p:cNvSpPr txBox="1"/>
          <p:nvPr/>
        </p:nvSpPr>
        <p:spPr>
          <a:xfrm>
            <a:off x="857250" y="2000250"/>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Standar Internasional:</a:t>
            </a:r>
            <a:r>
              <a:rPr lang="en-US" sz="1500" b="0" i="0" u="none" strike="noStrike" cap="none">
                <a:solidFill>
                  <a:srgbClr val="475569"/>
                </a:solidFill>
                <a:latin typeface="Lato"/>
                <a:ea typeface="Lato"/>
                <a:cs typeface="Lato"/>
                <a:sym typeface="Lato"/>
              </a:rPr>
              <a:t> Menggunakan Dataset "PhysioNet Challenge 2016" yang diakui secara global.</a:t>
            </a:r>
            <a:endParaRPr/>
          </a:p>
        </p:txBody>
      </p:sp>
      <p:sp>
        <p:nvSpPr>
          <p:cNvPr id="121" name="Google Shape;121;p15"/>
          <p:cNvSpPr txBox="1"/>
          <p:nvPr/>
        </p:nvSpPr>
        <p:spPr>
          <a:xfrm>
            <a:off x="857250" y="2800350"/>
            <a:ext cx="5000625" cy="6191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Skala Data:</a:t>
            </a:r>
            <a:r>
              <a:rPr lang="en-US" sz="1500" b="0" i="0" u="none" strike="noStrike" cap="none">
                <a:solidFill>
                  <a:srgbClr val="475569"/>
                </a:solidFill>
                <a:latin typeface="Lato"/>
                <a:ea typeface="Lato"/>
                <a:cs typeface="Lato"/>
                <a:sym typeface="Lato"/>
              </a:rPr>
              <a:t> Terdiri dari 3.240 rekaman audio format .wav dari berbagai kondisi pasien.</a:t>
            </a:r>
            <a:endParaRPr/>
          </a:p>
        </p:txBody>
      </p:sp>
      <p:sp>
        <p:nvSpPr>
          <p:cNvPr id="122" name="Google Shape;122;p15"/>
          <p:cNvSpPr txBox="1"/>
          <p:nvPr/>
        </p:nvSpPr>
        <p:spPr>
          <a:xfrm>
            <a:off x="857250" y="3609975"/>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Tantangan Kritis:</a:t>
            </a:r>
            <a:r>
              <a:rPr lang="en-US" sz="1500" b="0" i="0" u="none" strike="noStrike" cap="none">
                <a:solidFill>
                  <a:srgbClr val="475569"/>
                </a:solidFill>
                <a:latin typeface="Lato"/>
                <a:ea typeface="Lato"/>
                <a:cs typeface="Lato"/>
                <a:sym typeface="Lato"/>
              </a:rPr>
              <a:t> Data Sangat Imbalanced! Distribusi kelas sangat tidak seimbang dengan 79.5% kelas Normal dan hanya 20.5% kelas Abnormal.</a:t>
            </a:r>
            <a:endParaRPr/>
          </a:p>
        </p:txBody>
      </p:sp>
      <p:sp>
        <p:nvSpPr>
          <p:cNvPr id="123" name="Google Shape;123;p15"/>
          <p:cNvSpPr txBox="1"/>
          <p:nvPr/>
        </p:nvSpPr>
        <p:spPr>
          <a:xfrm>
            <a:off x="857250" y="4714875"/>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Dampak:</a:t>
            </a:r>
            <a:r>
              <a:rPr lang="en-US" sz="1500" b="0" i="0" u="none" strike="noStrike" cap="none">
                <a:solidFill>
                  <a:srgbClr val="475569"/>
                </a:solidFill>
                <a:latin typeface="Lato"/>
                <a:ea typeface="Lato"/>
                <a:cs typeface="Lato"/>
                <a:sym typeface="Lato"/>
              </a:rPr>
              <a:t> Model AI berisiko bias dan cenderung selalu memprediksi "Normal" jika tidak ditangani khusus.</a:t>
            </a:r>
            <a:endParaRPr/>
          </a:p>
        </p:txBody>
      </p:sp>
      <p:pic>
        <p:nvPicPr>
          <p:cNvPr id="124" name="Google Shape;124;p15" descr="image.png"/>
          <p:cNvPicPr preferRelativeResize="0"/>
          <p:nvPr/>
        </p:nvPicPr>
        <p:blipFill rotWithShape="1">
          <a:blip r:embed="rId5">
            <a:alphaModFix/>
          </a:blip>
          <a:srcRect/>
          <a:stretch/>
        </p:blipFill>
        <p:spPr>
          <a:xfrm>
            <a:off x="6334125" y="2000250"/>
            <a:ext cx="5286375" cy="3810000"/>
          </a:xfrm>
          <a:prstGeom prst="rect">
            <a:avLst/>
          </a:prstGeom>
          <a:noFill/>
          <a:ln>
            <a:noFill/>
          </a:ln>
        </p:spPr>
      </p:pic>
      <p:sp>
        <p:nvSpPr>
          <p:cNvPr id="125" name="Google Shape;125;p15"/>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Dataset &amp; Tantangan Utama</a:t>
            </a:r>
            <a:endParaRPr/>
          </a:p>
        </p:txBody>
      </p:sp>
      <p:sp>
        <p:nvSpPr>
          <p:cNvPr id="126" name="Google Shape;126;p15"/>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7" name="Google Shape;127;p15" descr="image.png"/>
          <p:cNvPicPr preferRelativeResize="0"/>
          <p:nvPr/>
        </p:nvPicPr>
        <p:blipFill rotWithShape="1">
          <a:blip r:embed="rId6">
            <a:alphaModFix/>
          </a:blip>
          <a:srcRect/>
          <a:stretch/>
        </p:blipFill>
        <p:spPr>
          <a:xfrm>
            <a:off x="571500" y="2019300"/>
            <a:ext cx="95250" cy="200025"/>
          </a:xfrm>
          <a:prstGeom prst="rect">
            <a:avLst/>
          </a:prstGeom>
          <a:noFill/>
          <a:ln>
            <a:noFill/>
          </a:ln>
        </p:spPr>
      </p:pic>
      <p:pic>
        <p:nvPicPr>
          <p:cNvPr id="128" name="Google Shape;128;p15" descr="image.png"/>
          <p:cNvPicPr preferRelativeResize="0"/>
          <p:nvPr/>
        </p:nvPicPr>
        <p:blipFill rotWithShape="1">
          <a:blip r:embed="rId6">
            <a:alphaModFix/>
          </a:blip>
          <a:srcRect/>
          <a:stretch/>
        </p:blipFill>
        <p:spPr>
          <a:xfrm>
            <a:off x="571500" y="2819400"/>
            <a:ext cx="95250" cy="200025"/>
          </a:xfrm>
          <a:prstGeom prst="rect">
            <a:avLst/>
          </a:prstGeom>
          <a:noFill/>
          <a:ln>
            <a:noFill/>
          </a:ln>
        </p:spPr>
      </p:pic>
      <p:pic>
        <p:nvPicPr>
          <p:cNvPr id="129" name="Google Shape;129;p15" descr="image.png"/>
          <p:cNvPicPr preferRelativeResize="0"/>
          <p:nvPr/>
        </p:nvPicPr>
        <p:blipFill rotWithShape="1">
          <a:blip r:embed="rId6">
            <a:alphaModFix/>
          </a:blip>
          <a:srcRect/>
          <a:stretch/>
        </p:blipFill>
        <p:spPr>
          <a:xfrm>
            <a:off x="571500" y="3629025"/>
            <a:ext cx="95250" cy="200025"/>
          </a:xfrm>
          <a:prstGeom prst="rect">
            <a:avLst/>
          </a:prstGeom>
          <a:noFill/>
          <a:ln>
            <a:noFill/>
          </a:ln>
        </p:spPr>
      </p:pic>
      <p:pic>
        <p:nvPicPr>
          <p:cNvPr id="130" name="Google Shape;130;p15" descr="image.png"/>
          <p:cNvPicPr preferRelativeResize="0"/>
          <p:nvPr/>
        </p:nvPicPr>
        <p:blipFill rotWithShape="1">
          <a:blip r:embed="rId6">
            <a:alphaModFix/>
          </a:blip>
          <a:srcRect/>
          <a:stretch/>
        </p:blipFill>
        <p:spPr>
          <a:xfrm>
            <a:off x="571500" y="4733925"/>
            <a:ext cx="95250" cy="20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
        <p:cNvGrpSpPr/>
        <p:nvPr/>
      </p:nvGrpSpPr>
      <p:grpSpPr>
        <a:xfrm>
          <a:off x="0" y="0"/>
          <a:ext cx="0" cy="0"/>
          <a:chOff x="0" y="0"/>
          <a:chExt cx="0" cy="0"/>
        </a:xfrm>
      </p:grpSpPr>
      <p:pic>
        <p:nvPicPr>
          <p:cNvPr id="135" name="Google Shape;13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6" name="Google Shape;136;p16" descr="image.png"/>
          <p:cNvPicPr preferRelativeResize="0"/>
          <p:nvPr/>
        </p:nvPicPr>
        <p:blipFill rotWithShape="1">
          <a:blip r:embed="rId4">
            <a:alphaModFix/>
          </a:blip>
          <a:srcRect/>
          <a:stretch/>
        </p:blipFill>
        <p:spPr>
          <a:xfrm>
            <a:off x="571500" y="2724150"/>
            <a:ext cx="5286375" cy="2362200"/>
          </a:xfrm>
          <a:prstGeom prst="rect">
            <a:avLst/>
          </a:prstGeom>
          <a:noFill/>
          <a:ln>
            <a:noFill/>
          </a:ln>
        </p:spPr>
      </p:pic>
      <p:pic>
        <p:nvPicPr>
          <p:cNvPr id="137" name="Google Shape;137;p16" descr="image.png"/>
          <p:cNvPicPr preferRelativeResize="0"/>
          <p:nvPr/>
        </p:nvPicPr>
        <p:blipFill rotWithShape="1">
          <a:blip r:embed="rId5">
            <a:alphaModFix/>
          </a:blip>
          <a:srcRect/>
          <a:stretch/>
        </p:blipFill>
        <p:spPr>
          <a:xfrm>
            <a:off x="6334125" y="3962400"/>
            <a:ext cx="5286375" cy="800100"/>
          </a:xfrm>
          <a:prstGeom prst="rect">
            <a:avLst/>
          </a:prstGeom>
          <a:noFill/>
          <a:ln>
            <a:noFill/>
          </a:ln>
        </p:spPr>
      </p:pic>
      <p:sp>
        <p:nvSpPr>
          <p:cNvPr id="138" name="Google Shape;138;p16"/>
          <p:cNvSpPr txBox="1"/>
          <p:nvPr/>
        </p:nvSpPr>
        <p:spPr>
          <a:xfrm>
            <a:off x="971550" y="3124200"/>
            <a:ext cx="4486275" cy="114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a:solidFill>
                  <a:srgbClr val="0284C7"/>
                </a:solidFill>
                <a:latin typeface="Poppins"/>
                <a:ea typeface="Poppins"/>
                <a:cs typeface="Poppins"/>
                <a:sym typeface="Poppins"/>
              </a:rPr>
              <a:t>86.02%</a:t>
            </a:r>
            <a:endParaRPr/>
          </a:p>
        </p:txBody>
      </p:sp>
      <p:sp>
        <p:nvSpPr>
          <p:cNvPr id="139" name="Google Shape;139;p16"/>
          <p:cNvSpPr txBox="1"/>
          <p:nvPr/>
        </p:nvSpPr>
        <p:spPr>
          <a:xfrm>
            <a:off x="971550" y="4362450"/>
            <a:ext cx="44862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F172A"/>
                </a:solidFill>
                <a:latin typeface="Lato"/>
                <a:ea typeface="Lato"/>
                <a:cs typeface="Lato"/>
                <a:sym typeface="Lato"/>
              </a:rPr>
              <a:t>Target Rekor Dunia</a:t>
            </a:r>
            <a:endParaRPr/>
          </a:p>
        </p:txBody>
      </p:sp>
      <p:sp>
        <p:nvSpPr>
          <p:cNvPr id="140" name="Google Shape;140;p16"/>
          <p:cNvSpPr txBox="1"/>
          <p:nvPr/>
        </p:nvSpPr>
        <p:spPr>
          <a:xfrm>
            <a:off x="6334125" y="1905000"/>
            <a:ext cx="555069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a:ea typeface="Poppins SemiBold"/>
                <a:cs typeface="Poppins SemiBold"/>
                <a:sym typeface="Poppins SemiBold"/>
              </a:rPr>
              <a:t>Akurasi Biasa Menyesatkan!</a:t>
            </a:r>
            <a:endParaRPr/>
          </a:p>
        </p:txBody>
      </p:sp>
      <p:sp>
        <p:nvSpPr>
          <p:cNvPr id="141" name="Google Shape;141;p16"/>
          <p:cNvSpPr txBox="1"/>
          <p:nvPr/>
        </p:nvSpPr>
        <p:spPr>
          <a:xfrm>
            <a:off x="6334125" y="2447925"/>
            <a:ext cx="52863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a:ea typeface="Lato"/>
                <a:cs typeface="Lato"/>
                <a:sym typeface="Lato"/>
              </a:rPr>
              <a:t>Pada data imbalanced, metrik akurasi tradisional dapat memanipulasi hasil evaluasi. Oleh karena itu, penelitian ini menggunakan skor resmi dewan Juri PhysioNet: </a:t>
            </a:r>
            <a:r>
              <a:rPr lang="en-US" sz="1500" b="1" i="0" u="none" strike="noStrike" cap="none">
                <a:solidFill>
                  <a:srgbClr val="475569"/>
                </a:solidFill>
                <a:latin typeface="Lato"/>
                <a:ea typeface="Lato"/>
                <a:cs typeface="Lato"/>
                <a:sym typeface="Lato"/>
              </a:rPr>
              <a:t>MAcc (Modified Accuracy)</a:t>
            </a:r>
            <a:r>
              <a:rPr lang="en-US" sz="1500" b="0" i="0" u="none" strike="noStrike" cap="none">
                <a:solidFill>
                  <a:srgbClr val="475569"/>
                </a:solidFill>
                <a:latin typeface="Lato"/>
                <a:ea typeface="Lato"/>
                <a:cs typeface="Lato"/>
                <a:sym typeface="Lato"/>
              </a:rPr>
              <a:t>.</a:t>
            </a:r>
            <a:endParaRPr/>
          </a:p>
        </p:txBody>
      </p:sp>
      <p:sp>
        <p:nvSpPr>
          <p:cNvPr id="142" name="Google Shape;142;p16"/>
          <p:cNvSpPr txBox="1"/>
          <p:nvPr/>
        </p:nvSpPr>
        <p:spPr>
          <a:xfrm>
            <a:off x="6334125" y="4848225"/>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Fokus Utama:</a:t>
            </a:r>
            <a:r>
              <a:rPr lang="en-US" sz="1500" b="0" i="0" u="none" strike="noStrike" cap="none">
                <a:solidFill>
                  <a:srgbClr val="475569"/>
                </a:solidFill>
                <a:latin typeface="Lato"/>
                <a:ea typeface="Lato"/>
                <a:cs typeface="Lato"/>
                <a:sym typeface="Lato"/>
              </a:rPr>
              <a:t> Mengalahkan rekor dunia MAcc sebelumnya (Potes et al., 2016) dengan mendeteksi kelas minoritas secara presisi.</a:t>
            </a:r>
            <a:endParaRPr/>
          </a:p>
        </p:txBody>
      </p:sp>
      <p:pic>
        <p:nvPicPr>
          <p:cNvPr id="143" name="Google Shape;143;p16" descr="image.png"/>
          <p:cNvPicPr preferRelativeResize="0"/>
          <p:nvPr/>
        </p:nvPicPr>
        <p:blipFill rotWithShape="1">
          <a:blip r:embed="rId6">
            <a:alphaModFix/>
          </a:blip>
          <a:srcRect/>
          <a:stretch/>
        </p:blipFill>
        <p:spPr>
          <a:xfrm>
            <a:off x="7362973" y="4168676"/>
            <a:ext cx="3228677" cy="387548"/>
          </a:xfrm>
          <a:prstGeom prst="rect">
            <a:avLst/>
          </a:prstGeom>
          <a:noFill/>
          <a:ln>
            <a:noFill/>
          </a:ln>
        </p:spPr>
      </p:pic>
      <p:sp>
        <p:nvSpPr>
          <p:cNvPr id="144" name="Google Shape;144;p16"/>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Metrik Penilaian (Mengapa MAcc?)</a:t>
            </a:r>
            <a:endParaRPr/>
          </a:p>
        </p:txBody>
      </p:sp>
      <p:sp>
        <p:nvSpPr>
          <p:cNvPr id="145" name="Google Shape;145;p16"/>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pic>
        <p:nvPicPr>
          <p:cNvPr id="150" name="Google Shape;15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1" name="Google Shape;151;p17"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152" name="Google Shape;152;p17"/>
          <p:cNvSpPr txBox="1"/>
          <p:nvPr/>
        </p:nvSpPr>
        <p:spPr>
          <a:xfrm>
            <a:off x="857250" y="20002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Standarisasi Dimensi:</a:t>
            </a:r>
            <a:r>
              <a:rPr lang="en-US" sz="1500" b="0" i="0" u="none" strike="noStrike" cap="none">
                <a:solidFill>
                  <a:srgbClr val="475569"/>
                </a:solidFill>
                <a:latin typeface="Lato"/>
                <a:ea typeface="Lato"/>
                <a:cs typeface="Lato"/>
                <a:sym typeface="Lato"/>
              </a:rPr>
              <a:t> Menyeragamkan durasi seluruh audio menjadi tepat 5 detik menggunakan metode </a:t>
            </a:r>
            <a:r>
              <a:rPr lang="en-US" sz="1500" b="0" i="1" u="none" strike="noStrike" cap="none">
                <a:solidFill>
                  <a:srgbClr val="475569"/>
                </a:solidFill>
                <a:latin typeface="Lato"/>
                <a:ea typeface="Lato"/>
                <a:cs typeface="Lato"/>
                <a:sym typeface="Lato"/>
              </a:rPr>
              <a:t>Padding/Truncation</a:t>
            </a:r>
            <a:r>
              <a:rPr lang="en-US" sz="1500" b="0" i="0" u="none" strike="noStrike" cap="none">
                <a:solidFill>
                  <a:srgbClr val="475569"/>
                </a:solidFill>
                <a:latin typeface="Lato"/>
                <a:ea typeface="Lato"/>
                <a:cs typeface="Lato"/>
                <a:sym typeface="Lato"/>
              </a:rPr>
              <a:t>.</a:t>
            </a:r>
            <a:endParaRPr/>
          </a:p>
        </p:txBody>
      </p:sp>
      <p:sp>
        <p:nvSpPr>
          <p:cNvPr id="153" name="Google Shape;153;p17"/>
          <p:cNvSpPr txBox="1"/>
          <p:nvPr/>
        </p:nvSpPr>
        <p:spPr>
          <a:xfrm>
            <a:off x="857250" y="31051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Denoising Sinyal:</a:t>
            </a:r>
            <a:r>
              <a:rPr lang="en-US" sz="1500" b="0" i="0" u="none" strike="noStrike" cap="none">
                <a:solidFill>
                  <a:srgbClr val="475569"/>
                </a:solidFill>
                <a:latin typeface="Lato"/>
                <a:ea typeface="Lato"/>
                <a:cs typeface="Lato"/>
                <a:sym typeface="Lato"/>
              </a:rPr>
              <a:t> Menghilangkan suara napas dan gangguan (noise) menggunakan </a:t>
            </a:r>
            <a:r>
              <a:rPr lang="en-US" sz="1500" b="0" i="1" u="none" strike="noStrike" cap="none">
                <a:solidFill>
                  <a:srgbClr val="475569"/>
                </a:solidFill>
                <a:latin typeface="Lato"/>
                <a:ea typeface="Lato"/>
                <a:cs typeface="Lato"/>
                <a:sym typeface="Lato"/>
              </a:rPr>
              <a:t>Butterworth Bandpass Filter</a:t>
            </a:r>
            <a:r>
              <a:rPr lang="en-US" sz="1500" b="0" i="0" u="none" strike="noStrike" cap="none">
                <a:solidFill>
                  <a:srgbClr val="475569"/>
                </a:solidFill>
                <a:latin typeface="Lato"/>
                <a:ea typeface="Lato"/>
                <a:cs typeface="Lato"/>
                <a:sym typeface="Lato"/>
              </a:rPr>
              <a:t> (Rentang 25 - 400 Hz).</a:t>
            </a:r>
            <a:endParaRPr/>
          </a:p>
        </p:txBody>
      </p:sp>
      <p:sp>
        <p:nvSpPr>
          <p:cNvPr id="154" name="Google Shape;154;p17"/>
          <p:cNvSpPr txBox="1"/>
          <p:nvPr/>
        </p:nvSpPr>
        <p:spPr>
          <a:xfrm>
            <a:off x="857250" y="42100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Ekstraksi Fitur (Librosa):</a:t>
            </a:r>
            <a:r>
              <a:rPr lang="en-US" sz="1500" b="0" i="0" u="none" strike="noStrike" cap="none">
                <a:solidFill>
                  <a:srgbClr val="475569"/>
                </a:solidFill>
                <a:latin typeface="Lato"/>
                <a:ea typeface="Lato"/>
                <a:cs typeface="Lato"/>
                <a:sym typeface="Lato"/>
              </a:rPr>
              <a:t> Mentransformasi sinyal audio mentah menjadi Gambar representatif (</a:t>
            </a:r>
            <a:r>
              <a:rPr lang="en-US" sz="1500" b="0" i="1" u="none" strike="noStrike" cap="none">
                <a:solidFill>
                  <a:srgbClr val="475569"/>
                </a:solidFill>
                <a:latin typeface="Lato"/>
                <a:ea typeface="Lato"/>
                <a:cs typeface="Lato"/>
                <a:sym typeface="Lato"/>
              </a:rPr>
              <a:t>Mel-Spectrogram</a:t>
            </a:r>
            <a:r>
              <a:rPr lang="en-US" sz="1500" b="0" i="0" u="none" strike="noStrike" cap="none">
                <a:solidFill>
                  <a:srgbClr val="475569"/>
                </a:solidFill>
                <a:latin typeface="Lato"/>
                <a:ea typeface="Lato"/>
                <a:cs typeface="Lato"/>
                <a:sym typeface="Lato"/>
              </a:rPr>
              <a:t>) dan 33 Fitur Numerik statistik.</a:t>
            </a:r>
            <a:endParaRPr/>
          </a:p>
        </p:txBody>
      </p:sp>
      <p:pic>
        <p:nvPicPr>
          <p:cNvPr id="155" name="Google Shape;155;p17" descr="image.png"/>
          <p:cNvPicPr preferRelativeResize="0"/>
          <p:nvPr/>
        </p:nvPicPr>
        <p:blipFill rotWithShape="1">
          <a:blip r:embed="rId5">
            <a:alphaModFix/>
          </a:blip>
          <a:srcRect/>
          <a:stretch/>
        </p:blipFill>
        <p:spPr>
          <a:xfrm>
            <a:off x="6334125" y="2000250"/>
            <a:ext cx="5286375" cy="3810000"/>
          </a:xfrm>
          <a:prstGeom prst="rect">
            <a:avLst/>
          </a:prstGeom>
          <a:noFill/>
          <a:ln>
            <a:noFill/>
          </a:ln>
        </p:spPr>
      </p:pic>
      <p:sp>
        <p:nvSpPr>
          <p:cNvPr id="156" name="Google Shape;156;p17"/>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Metodologi &amp; Preprocessing Audio</a:t>
            </a:r>
            <a:endParaRPr/>
          </a:p>
        </p:txBody>
      </p:sp>
      <p:sp>
        <p:nvSpPr>
          <p:cNvPr id="157" name="Google Shape;157;p17"/>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8" name="Google Shape;158;p17" descr="image.png"/>
          <p:cNvPicPr preferRelativeResize="0"/>
          <p:nvPr/>
        </p:nvPicPr>
        <p:blipFill rotWithShape="1">
          <a:blip r:embed="rId6">
            <a:alphaModFix/>
          </a:blip>
          <a:srcRect/>
          <a:stretch/>
        </p:blipFill>
        <p:spPr>
          <a:xfrm>
            <a:off x="571500" y="2019300"/>
            <a:ext cx="95250" cy="200025"/>
          </a:xfrm>
          <a:prstGeom prst="rect">
            <a:avLst/>
          </a:prstGeom>
          <a:noFill/>
          <a:ln>
            <a:noFill/>
          </a:ln>
        </p:spPr>
      </p:pic>
      <p:pic>
        <p:nvPicPr>
          <p:cNvPr id="159" name="Google Shape;159;p17" descr="image.png"/>
          <p:cNvPicPr preferRelativeResize="0"/>
          <p:nvPr/>
        </p:nvPicPr>
        <p:blipFill rotWithShape="1">
          <a:blip r:embed="rId6">
            <a:alphaModFix/>
          </a:blip>
          <a:srcRect/>
          <a:stretch/>
        </p:blipFill>
        <p:spPr>
          <a:xfrm>
            <a:off x="571500" y="3124200"/>
            <a:ext cx="95250" cy="200025"/>
          </a:xfrm>
          <a:prstGeom prst="rect">
            <a:avLst/>
          </a:prstGeom>
          <a:noFill/>
          <a:ln>
            <a:noFill/>
          </a:ln>
        </p:spPr>
      </p:pic>
      <p:pic>
        <p:nvPicPr>
          <p:cNvPr id="160" name="Google Shape;160;p17" descr="image.png"/>
          <p:cNvPicPr preferRelativeResize="0"/>
          <p:nvPr/>
        </p:nvPicPr>
        <p:blipFill rotWithShape="1">
          <a:blip r:embed="rId6">
            <a:alphaModFix/>
          </a:blip>
          <a:srcRect/>
          <a:stretch/>
        </p:blipFill>
        <p:spPr>
          <a:xfrm>
            <a:off x="571500" y="4229100"/>
            <a:ext cx="95250" cy="20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6" name="Google Shape;166;p18" descr="image.png"/>
          <p:cNvPicPr preferRelativeResize="0"/>
          <p:nvPr/>
        </p:nvPicPr>
        <p:blipFill rotWithShape="1">
          <a:blip r:embed="rId4">
            <a:alphaModFix/>
          </a:blip>
          <a:srcRect/>
          <a:stretch/>
        </p:blipFill>
        <p:spPr>
          <a:xfrm>
            <a:off x="571500" y="2509688"/>
            <a:ext cx="3492549" cy="3747045"/>
          </a:xfrm>
          <a:prstGeom prst="rect">
            <a:avLst/>
          </a:prstGeom>
          <a:noFill/>
          <a:ln>
            <a:noFill/>
          </a:ln>
        </p:spPr>
      </p:pic>
      <p:pic>
        <p:nvPicPr>
          <p:cNvPr id="167" name="Google Shape;167;p18" descr="image.png"/>
          <p:cNvPicPr preferRelativeResize="0"/>
          <p:nvPr/>
        </p:nvPicPr>
        <p:blipFill rotWithShape="1">
          <a:blip r:embed="rId5">
            <a:alphaModFix/>
          </a:blip>
          <a:srcRect/>
          <a:stretch/>
        </p:blipFill>
        <p:spPr>
          <a:xfrm>
            <a:off x="4349799" y="2509688"/>
            <a:ext cx="3492549" cy="3747045"/>
          </a:xfrm>
          <a:prstGeom prst="rect">
            <a:avLst/>
          </a:prstGeom>
          <a:noFill/>
          <a:ln>
            <a:noFill/>
          </a:ln>
        </p:spPr>
      </p:pic>
      <p:pic>
        <p:nvPicPr>
          <p:cNvPr id="168" name="Google Shape;168;p18" descr="image.png"/>
          <p:cNvPicPr preferRelativeResize="0"/>
          <p:nvPr/>
        </p:nvPicPr>
        <p:blipFill rotWithShape="1">
          <a:blip r:embed="rId6">
            <a:alphaModFix/>
          </a:blip>
          <a:srcRect/>
          <a:stretch/>
        </p:blipFill>
        <p:spPr>
          <a:xfrm>
            <a:off x="8128099" y="2509688"/>
            <a:ext cx="3492549" cy="3747045"/>
          </a:xfrm>
          <a:prstGeom prst="rect">
            <a:avLst/>
          </a:prstGeom>
          <a:noFill/>
          <a:ln>
            <a:noFill/>
          </a:ln>
        </p:spPr>
      </p:pic>
      <p:sp>
        <p:nvSpPr>
          <p:cNvPr id="169" name="Google Shape;169;p18"/>
          <p:cNvSpPr txBox="1"/>
          <p:nvPr/>
        </p:nvSpPr>
        <p:spPr>
          <a:xfrm>
            <a:off x="1809750" y="1553616"/>
            <a:ext cx="85725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Menggabungkan 3 "Otak AI" sekaligus secara paralel untuk menutupi kelemahan masing-masing model tunggal.</a:t>
            </a:r>
            <a:endParaRPr/>
          </a:p>
        </p:txBody>
      </p:sp>
      <p:pic>
        <p:nvPicPr>
          <p:cNvPr id="170" name="Google Shape;170;p18" descr="image.png"/>
          <p:cNvPicPr preferRelativeResize="0"/>
          <p:nvPr/>
        </p:nvPicPr>
        <p:blipFill rotWithShape="1">
          <a:blip r:embed="rId7">
            <a:alphaModFix/>
          </a:blip>
          <a:srcRect/>
          <a:stretch/>
        </p:blipFill>
        <p:spPr>
          <a:xfrm>
            <a:off x="1841450" y="2900213"/>
            <a:ext cx="952500" cy="952500"/>
          </a:xfrm>
          <a:prstGeom prst="rect">
            <a:avLst/>
          </a:prstGeom>
          <a:noFill/>
          <a:ln>
            <a:noFill/>
          </a:ln>
        </p:spPr>
      </p:pic>
      <p:sp>
        <p:nvSpPr>
          <p:cNvPr id="171" name="Google Shape;171;p18"/>
          <p:cNvSpPr txBox="1"/>
          <p:nvPr/>
        </p:nvSpPr>
        <p:spPr>
          <a:xfrm>
            <a:off x="1522601" y="4090838"/>
            <a:ext cx="1590198"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1D-CNN (5%)</a:t>
            </a:r>
            <a:endParaRPr/>
          </a:p>
        </p:txBody>
      </p:sp>
      <p:sp>
        <p:nvSpPr>
          <p:cNvPr id="172" name="Google Shape;172;p18"/>
          <p:cNvSpPr txBox="1"/>
          <p:nvPr/>
        </p:nvSpPr>
        <p:spPr>
          <a:xfrm>
            <a:off x="866775" y="4567088"/>
            <a:ext cx="29019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Secara spesifik bertugas menganalisis pola ketukan temporal dari urutan data sinyal audio mentah.</a:t>
            </a:r>
            <a:endParaRPr/>
          </a:p>
        </p:txBody>
      </p:sp>
      <p:pic>
        <p:nvPicPr>
          <p:cNvPr id="173" name="Google Shape;173;p18" descr="image.png"/>
          <p:cNvPicPr preferRelativeResize="0"/>
          <p:nvPr/>
        </p:nvPicPr>
        <p:blipFill rotWithShape="1">
          <a:blip r:embed="rId8">
            <a:alphaModFix/>
          </a:blip>
          <a:srcRect/>
          <a:stretch/>
        </p:blipFill>
        <p:spPr>
          <a:xfrm>
            <a:off x="5619750" y="2900213"/>
            <a:ext cx="952500" cy="952500"/>
          </a:xfrm>
          <a:prstGeom prst="rect">
            <a:avLst/>
          </a:prstGeom>
          <a:noFill/>
          <a:ln>
            <a:noFill/>
          </a:ln>
        </p:spPr>
      </p:pic>
      <p:sp>
        <p:nvSpPr>
          <p:cNvPr id="174" name="Google Shape;174;p18"/>
          <p:cNvSpPr txBox="1"/>
          <p:nvPr/>
        </p:nvSpPr>
        <p:spPr>
          <a:xfrm>
            <a:off x="4572524" y="4090838"/>
            <a:ext cx="3047099"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CRNN / EfficientNetB0 (15%)</a:t>
            </a:r>
            <a:endParaRPr/>
          </a:p>
        </p:txBody>
      </p:sp>
      <p:sp>
        <p:nvSpPr>
          <p:cNvPr id="175" name="Google Shape;175;p18"/>
          <p:cNvSpPr txBox="1"/>
          <p:nvPr/>
        </p:nvSpPr>
        <p:spPr>
          <a:xfrm>
            <a:off x="4645074" y="4900463"/>
            <a:ext cx="29019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Visi komputer mutakhir yang berfokus mengenali pola visual "noda murmur" pada gambar Mel-Spectrogram.</a:t>
            </a:r>
            <a:endParaRPr/>
          </a:p>
        </p:txBody>
      </p:sp>
      <p:pic>
        <p:nvPicPr>
          <p:cNvPr id="176" name="Google Shape;176;p18" descr="image.png"/>
          <p:cNvPicPr preferRelativeResize="0"/>
          <p:nvPr/>
        </p:nvPicPr>
        <p:blipFill rotWithShape="1">
          <a:blip r:embed="rId9">
            <a:alphaModFix/>
          </a:blip>
          <a:srcRect/>
          <a:stretch/>
        </p:blipFill>
        <p:spPr>
          <a:xfrm>
            <a:off x="9398049" y="2900213"/>
            <a:ext cx="952500" cy="952500"/>
          </a:xfrm>
          <a:prstGeom prst="rect">
            <a:avLst/>
          </a:prstGeom>
          <a:noFill/>
          <a:ln>
            <a:noFill/>
          </a:ln>
        </p:spPr>
      </p:pic>
      <p:sp>
        <p:nvSpPr>
          <p:cNvPr id="177" name="Google Shape;177;p18"/>
          <p:cNvSpPr txBox="1"/>
          <p:nvPr/>
        </p:nvSpPr>
        <p:spPr>
          <a:xfrm>
            <a:off x="8954184" y="4090838"/>
            <a:ext cx="184023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F172A"/>
                </a:solidFill>
                <a:latin typeface="Poppins SemiBold"/>
                <a:ea typeface="Poppins SemiBold"/>
                <a:cs typeface="Poppins SemiBold"/>
                <a:sym typeface="Poppins SemiBold"/>
              </a:rPr>
              <a:t>XGBoost (80%)</a:t>
            </a:r>
            <a:endParaRPr/>
          </a:p>
        </p:txBody>
      </p:sp>
      <p:sp>
        <p:nvSpPr>
          <p:cNvPr id="178" name="Google Shape;178;p18"/>
          <p:cNvSpPr txBox="1"/>
          <p:nvPr/>
        </p:nvSpPr>
        <p:spPr>
          <a:xfrm>
            <a:off x="8423374" y="4567088"/>
            <a:ext cx="2901999"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475569"/>
                </a:solidFill>
                <a:latin typeface="Lato"/>
                <a:ea typeface="Lato"/>
                <a:cs typeface="Lato"/>
                <a:sym typeface="Lato"/>
              </a:rPr>
              <a:t>Model berbasis pohon keputusan yang andal dalam menemukan korelasi kompleks dari logika angka 33 fitur statistik.</a:t>
            </a:r>
            <a:endParaRPr/>
          </a:p>
        </p:txBody>
      </p:sp>
      <p:pic>
        <p:nvPicPr>
          <p:cNvPr id="179" name="Google Shape;179;p18" descr="image.png"/>
          <p:cNvPicPr preferRelativeResize="0"/>
          <p:nvPr/>
        </p:nvPicPr>
        <p:blipFill rotWithShape="1">
          <a:blip r:embed="rId10">
            <a:alphaModFix/>
          </a:blip>
          <a:srcRect/>
          <a:stretch/>
        </p:blipFill>
        <p:spPr>
          <a:xfrm>
            <a:off x="1984325" y="3109763"/>
            <a:ext cx="666750" cy="533400"/>
          </a:xfrm>
          <a:prstGeom prst="rect">
            <a:avLst/>
          </a:prstGeom>
          <a:noFill/>
          <a:ln>
            <a:noFill/>
          </a:ln>
        </p:spPr>
      </p:pic>
      <p:pic>
        <p:nvPicPr>
          <p:cNvPr id="180" name="Google Shape;180;p18" descr="image.png"/>
          <p:cNvPicPr preferRelativeResize="0"/>
          <p:nvPr/>
        </p:nvPicPr>
        <p:blipFill rotWithShape="1">
          <a:blip r:embed="rId11">
            <a:alphaModFix/>
          </a:blip>
          <a:srcRect/>
          <a:stretch/>
        </p:blipFill>
        <p:spPr>
          <a:xfrm>
            <a:off x="5829300" y="3109763"/>
            <a:ext cx="533400" cy="533400"/>
          </a:xfrm>
          <a:prstGeom prst="rect">
            <a:avLst/>
          </a:prstGeom>
          <a:noFill/>
          <a:ln>
            <a:noFill/>
          </a:ln>
        </p:spPr>
      </p:pic>
      <p:pic>
        <p:nvPicPr>
          <p:cNvPr id="181" name="Google Shape;181;p18" descr="image.png"/>
          <p:cNvPicPr preferRelativeResize="0"/>
          <p:nvPr/>
        </p:nvPicPr>
        <p:blipFill rotWithShape="1">
          <a:blip r:embed="rId12">
            <a:alphaModFix/>
          </a:blip>
          <a:srcRect/>
          <a:stretch/>
        </p:blipFill>
        <p:spPr>
          <a:xfrm>
            <a:off x="9674274" y="3109763"/>
            <a:ext cx="400050" cy="533400"/>
          </a:xfrm>
          <a:prstGeom prst="rect">
            <a:avLst/>
          </a:prstGeom>
          <a:noFill/>
          <a:ln>
            <a:noFill/>
          </a:ln>
        </p:spPr>
      </p:pic>
      <p:sp>
        <p:nvSpPr>
          <p:cNvPr id="182" name="Google Shape;182;p18"/>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Arsitektur Triple Ensemble (Inti Riset)</a:t>
            </a:r>
            <a:endParaRPr/>
          </a:p>
        </p:txBody>
      </p:sp>
      <p:sp>
        <p:nvSpPr>
          <p:cNvPr id="183" name="Google Shape;183;p18"/>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pic>
        <p:nvPicPr>
          <p:cNvPr id="188" name="Google Shape;18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9" name="Google Shape;189;p19"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190" name="Google Shape;190;p19"/>
          <p:cNvSpPr txBox="1"/>
          <p:nvPr/>
        </p:nvSpPr>
        <p:spPr>
          <a:xfrm>
            <a:off x="857250" y="20002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Optimasi Deteksi:</a:t>
            </a:r>
            <a:r>
              <a:rPr lang="en-US" sz="1500" b="0" i="0" u="none" strike="noStrike" cap="none">
                <a:solidFill>
                  <a:srgbClr val="475569"/>
                </a:solidFill>
                <a:latin typeface="Lato"/>
                <a:ea typeface="Lato"/>
                <a:cs typeface="Lato"/>
                <a:sym typeface="Lato"/>
              </a:rPr>
              <a:t> Menggunakan teknik </a:t>
            </a:r>
            <a:r>
              <a:rPr lang="en-US" sz="1500" b="0" i="1" u="none" strike="noStrike" cap="none">
                <a:solidFill>
                  <a:srgbClr val="475569"/>
                </a:solidFill>
                <a:latin typeface="Lato"/>
                <a:ea typeface="Lato"/>
                <a:cs typeface="Lato"/>
                <a:sym typeface="Lato"/>
              </a:rPr>
              <a:t>Threshold Moving</a:t>
            </a:r>
            <a:r>
              <a:rPr lang="en-US" sz="1500" b="0" i="0" u="none" strike="noStrike" cap="none">
                <a:solidFill>
                  <a:srgbClr val="475569"/>
                </a:solidFill>
                <a:latin typeface="Lato"/>
                <a:ea typeface="Lato"/>
                <a:cs typeface="Lato"/>
                <a:sym typeface="Lato"/>
              </a:rPr>
              <a:t> yang digeser ke angka 0.19 agar AI lebih "pesimis" dan waspada terhadap sekecil apapun gejala penyakit.</a:t>
            </a:r>
            <a:endParaRPr/>
          </a:p>
        </p:txBody>
      </p:sp>
      <p:sp>
        <p:nvSpPr>
          <p:cNvPr id="191" name="Google Shape;191;p19"/>
          <p:cNvSpPr txBox="1"/>
          <p:nvPr/>
        </p:nvSpPr>
        <p:spPr>
          <a:xfrm>
            <a:off x="857250" y="31051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Kinerja Individu:</a:t>
            </a:r>
            <a:r>
              <a:rPr lang="en-US" sz="1500" b="0" i="0" u="none" strike="noStrike" cap="none">
                <a:solidFill>
                  <a:srgbClr val="475569"/>
                </a:solidFill>
                <a:latin typeface="Lato"/>
                <a:ea typeface="Lato"/>
                <a:cs typeface="Lato"/>
                <a:sym typeface="Lato"/>
              </a:rPr>
              <a:t> Metrik Sensitivity mencapai puncaknya di 90.23% (Sangat peka deteksi sakit!), dan Specificity sebesar 85.83%.</a:t>
            </a:r>
            <a:endParaRPr/>
          </a:p>
        </p:txBody>
      </p:sp>
      <p:sp>
        <p:nvSpPr>
          <p:cNvPr id="192" name="Google Shape;192;p19"/>
          <p:cNvSpPr txBox="1"/>
          <p:nvPr/>
        </p:nvSpPr>
        <p:spPr>
          <a:xfrm>
            <a:off x="857250" y="42100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Pencapaian Tertinggi:</a:t>
            </a:r>
            <a:r>
              <a:rPr lang="en-US" sz="1500" b="0" i="0" u="none" strike="noStrike" cap="none">
                <a:solidFill>
                  <a:srgbClr val="475569"/>
                </a:solidFill>
                <a:latin typeface="Lato"/>
                <a:ea typeface="Lato"/>
                <a:cs typeface="Lato"/>
                <a:sym typeface="Lato"/>
              </a:rPr>
              <a:t> Skor Final Model Gabungan menghasilkan </a:t>
            </a:r>
            <a:r>
              <a:rPr lang="en-US" sz="1500" b="1" i="0" u="none" strike="noStrike" cap="none">
                <a:solidFill>
                  <a:srgbClr val="475569"/>
                </a:solidFill>
                <a:latin typeface="Lato"/>
                <a:ea typeface="Lato"/>
                <a:cs typeface="Lato"/>
                <a:sym typeface="Lato"/>
              </a:rPr>
              <a:t>MAcc = 88.03%</a:t>
            </a:r>
            <a:r>
              <a:rPr lang="en-US" sz="1500" b="0" i="0" u="none" strike="noStrike" cap="none">
                <a:solidFill>
                  <a:srgbClr val="475569"/>
                </a:solidFill>
                <a:latin typeface="Lato"/>
                <a:ea typeface="Lato"/>
                <a:cs typeface="Lato"/>
                <a:sym typeface="Lato"/>
              </a:rPr>
              <a:t>. Keberhasilan signifikan yang memecahkan rekor dunia sebelumnya!</a:t>
            </a:r>
            <a:endParaRPr/>
          </a:p>
        </p:txBody>
      </p:sp>
      <p:pic>
        <p:nvPicPr>
          <p:cNvPr id="193" name="Google Shape;193;p19" descr="image.png"/>
          <p:cNvPicPr preferRelativeResize="0"/>
          <p:nvPr/>
        </p:nvPicPr>
        <p:blipFill rotWithShape="1">
          <a:blip r:embed="rId5">
            <a:alphaModFix/>
          </a:blip>
          <a:srcRect/>
          <a:stretch/>
        </p:blipFill>
        <p:spPr>
          <a:xfrm>
            <a:off x="6334125" y="2000250"/>
            <a:ext cx="5286375" cy="3810000"/>
          </a:xfrm>
          <a:prstGeom prst="rect">
            <a:avLst/>
          </a:prstGeom>
          <a:noFill/>
          <a:ln>
            <a:noFill/>
          </a:ln>
        </p:spPr>
      </p:pic>
      <p:sp>
        <p:nvSpPr>
          <p:cNvPr id="194" name="Google Shape;194;p19"/>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Hasil Evaluasi Model (The Moment of Truth)</a:t>
            </a:r>
            <a:endParaRPr/>
          </a:p>
        </p:txBody>
      </p:sp>
      <p:sp>
        <p:nvSpPr>
          <p:cNvPr id="195" name="Google Shape;195;p19"/>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6" name="Google Shape;196;p19" descr="image.png"/>
          <p:cNvPicPr preferRelativeResize="0"/>
          <p:nvPr/>
        </p:nvPicPr>
        <p:blipFill rotWithShape="1">
          <a:blip r:embed="rId6">
            <a:alphaModFix/>
          </a:blip>
          <a:srcRect/>
          <a:stretch/>
        </p:blipFill>
        <p:spPr>
          <a:xfrm>
            <a:off x="571500" y="2019300"/>
            <a:ext cx="95250" cy="200025"/>
          </a:xfrm>
          <a:prstGeom prst="rect">
            <a:avLst/>
          </a:prstGeom>
          <a:noFill/>
          <a:ln>
            <a:noFill/>
          </a:ln>
        </p:spPr>
      </p:pic>
      <p:pic>
        <p:nvPicPr>
          <p:cNvPr id="197" name="Google Shape;197;p19" descr="image.png"/>
          <p:cNvPicPr preferRelativeResize="0"/>
          <p:nvPr/>
        </p:nvPicPr>
        <p:blipFill rotWithShape="1">
          <a:blip r:embed="rId6">
            <a:alphaModFix/>
          </a:blip>
          <a:srcRect/>
          <a:stretch/>
        </p:blipFill>
        <p:spPr>
          <a:xfrm>
            <a:off x="571500" y="3124200"/>
            <a:ext cx="95250" cy="200025"/>
          </a:xfrm>
          <a:prstGeom prst="rect">
            <a:avLst/>
          </a:prstGeom>
          <a:noFill/>
          <a:ln>
            <a:noFill/>
          </a:ln>
        </p:spPr>
      </p:pic>
      <p:pic>
        <p:nvPicPr>
          <p:cNvPr id="198" name="Google Shape;198;p19" descr="image.png"/>
          <p:cNvPicPr preferRelativeResize="0"/>
          <p:nvPr/>
        </p:nvPicPr>
        <p:blipFill rotWithShape="1">
          <a:blip r:embed="rId6">
            <a:alphaModFix/>
          </a:blip>
          <a:srcRect/>
          <a:stretch/>
        </p:blipFill>
        <p:spPr>
          <a:xfrm>
            <a:off x="571500" y="4229100"/>
            <a:ext cx="95250" cy="20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pic>
        <p:nvPicPr>
          <p:cNvPr id="203" name="Google Shape;20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4" name="Google Shape;204;p20"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205" name="Google Shape;205;p20"/>
          <p:cNvSpPr txBox="1"/>
          <p:nvPr/>
        </p:nvSpPr>
        <p:spPr>
          <a:xfrm>
            <a:off x="857250" y="20002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Transparansi Medis:</a:t>
            </a:r>
            <a:r>
              <a:rPr lang="en-US" sz="1500" b="0" i="0" u="none" strike="noStrike" cap="none">
                <a:solidFill>
                  <a:srgbClr val="475569"/>
                </a:solidFill>
                <a:latin typeface="Lato"/>
                <a:ea typeface="Lato"/>
                <a:cs typeface="Lato"/>
                <a:sym typeface="Lato"/>
              </a:rPr>
              <a:t> AI ini bukan sekadar "Kotak Hitam". Setiap keputusan klinisnya dapat dijelaskan secara visual menggunakan nilai SHAP.</a:t>
            </a:r>
            <a:endParaRPr/>
          </a:p>
        </p:txBody>
      </p:sp>
      <p:sp>
        <p:nvSpPr>
          <p:cNvPr id="206" name="Google Shape;206;p20"/>
          <p:cNvSpPr txBox="1"/>
          <p:nvPr/>
        </p:nvSpPr>
        <p:spPr>
          <a:xfrm>
            <a:off x="857250" y="31051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Fitur Terpenting:</a:t>
            </a:r>
            <a:r>
              <a:rPr lang="en-US" sz="1500" b="0" i="0" u="none" strike="noStrike" cap="none">
                <a:solidFill>
                  <a:srgbClr val="475569"/>
                </a:solidFill>
                <a:latin typeface="Lato"/>
                <a:ea typeface="Lato"/>
                <a:cs typeface="Lato"/>
                <a:sym typeface="Lato"/>
              </a:rPr>
              <a:t> Analisis SHAP mengungkap bahwa </a:t>
            </a:r>
            <a:r>
              <a:rPr lang="en-US" sz="1500" b="1" i="0" u="none" strike="noStrike" cap="none">
                <a:solidFill>
                  <a:srgbClr val="475569"/>
                </a:solidFill>
                <a:latin typeface="Lato"/>
                <a:ea typeface="Lato"/>
                <a:cs typeface="Lato"/>
                <a:sym typeface="Lato"/>
              </a:rPr>
              <a:t>Shannon Energy Envelope</a:t>
            </a:r>
            <a:r>
              <a:rPr lang="en-US" sz="1500" b="0" i="0" u="none" strike="noStrike" cap="none">
                <a:solidFill>
                  <a:srgbClr val="475569"/>
                </a:solidFill>
                <a:latin typeface="Lato"/>
                <a:ea typeface="Lato"/>
                <a:cs typeface="Lato"/>
                <a:sym typeface="Lato"/>
              </a:rPr>
              <a:t> adalah variabel pemicu utama vonis jantung Abnormal.</a:t>
            </a:r>
            <a:endParaRPr/>
          </a:p>
        </p:txBody>
      </p:sp>
      <p:sp>
        <p:nvSpPr>
          <p:cNvPr id="207" name="Google Shape;207;p20"/>
          <p:cNvSpPr txBox="1"/>
          <p:nvPr/>
        </p:nvSpPr>
        <p:spPr>
          <a:xfrm>
            <a:off x="857250" y="4210050"/>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Lato"/>
                <a:ea typeface="Lato"/>
                <a:cs typeface="Lato"/>
                <a:sym typeface="Lato"/>
              </a:rPr>
              <a:t>Validasi Medis:</a:t>
            </a:r>
            <a:r>
              <a:rPr lang="en-US" sz="1500" b="0" i="0" u="none" strike="noStrike" cap="none">
                <a:solidFill>
                  <a:srgbClr val="475569"/>
                </a:solidFill>
                <a:latin typeface="Lato"/>
                <a:ea typeface="Lato"/>
                <a:cs typeface="Lato"/>
                <a:sym typeface="Lato"/>
              </a:rPr>
              <a:t> Temuan matematis ini sangat selaras dengan teori kedokteran, bahwa suara murmur sejatinya disebabkan oleh lonjakan turbulensi aliran darah yang berenergi tinggi.</a:t>
            </a:r>
            <a:endParaRPr/>
          </a:p>
        </p:txBody>
      </p:sp>
      <p:pic>
        <p:nvPicPr>
          <p:cNvPr id="208" name="Google Shape;208;p20" descr="image.png"/>
          <p:cNvPicPr preferRelativeResize="0"/>
          <p:nvPr/>
        </p:nvPicPr>
        <p:blipFill rotWithShape="1">
          <a:blip r:embed="rId5">
            <a:alphaModFix/>
          </a:blip>
          <a:srcRect/>
          <a:stretch/>
        </p:blipFill>
        <p:spPr>
          <a:xfrm>
            <a:off x="6334125" y="2000250"/>
            <a:ext cx="5286375" cy="3810000"/>
          </a:xfrm>
          <a:prstGeom prst="rect">
            <a:avLst/>
          </a:prstGeom>
          <a:noFill/>
          <a:ln>
            <a:noFill/>
          </a:ln>
        </p:spPr>
      </p:pic>
      <p:sp>
        <p:nvSpPr>
          <p:cNvPr id="209" name="Google Shape;209;p20"/>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Explainable AI (Interpretasi SHAP)</a:t>
            </a:r>
            <a:endParaRPr/>
          </a:p>
        </p:txBody>
      </p:sp>
      <p:sp>
        <p:nvSpPr>
          <p:cNvPr id="210" name="Google Shape;210;p20"/>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1" name="Google Shape;211;p20" descr="image.png"/>
          <p:cNvPicPr preferRelativeResize="0"/>
          <p:nvPr/>
        </p:nvPicPr>
        <p:blipFill rotWithShape="1">
          <a:blip r:embed="rId6">
            <a:alphaModFix/>
          </a:blip>
          <a:srcRect/>
          <a:stretch/>
        </p:blipFill>
        <p:spPr>
          <a:xfrm>
            <a:off x="571500" y="2019300"/>
            <a:ext cx="95250" cy="200025"/>
          </a:xfrm>
          <a:prstGeom prst="rect">
            <a:avLst/>
          </a:prstGeom>
          <a:noFill/>
          <a:ln>
            <a:noFill/>
          </a:ln>
        </p:spPr>
      </p:pic>
      <p:pic>
        <p:nvPicPr>
          <p:cNvPr id="212" name="Google Shape;212;p20" descr="image.png"/>
          <p:cNvPicPr preferRelativeResize="0"/>
          <p:nvPr/>
        </p:nvPicPr>
        <p:blipFill rotWithShape="1">
          <a:blip r:embed="rId6">
            <a:alphaModFix/>
          </a:blip>
          <a:srcRect/>
          <a:stretch/>
        </p:blipFill>
        <p:spPr>
          <a:xfrm>
            <a:off x="571500" y="3124200"/>
            <a:ext cx="95250" cy="200025"/>
          </a:xfrm>
          <a:prstGeom prst="rect">
            <a:avLst/>
          </a:prstGeom>
          <a:noFill/>
          <a:ln>
            <a:noFill/>
          </a:ln>
        </p:spPr>
      </p:pic>
      <p:pic>
        <p:nvPicPr>
          <p:cNvPr id="213" name="Google Shape;213;p20" descr="image.png"/>
          <p:cNvPicPr preferRelativeResize="0"/>
          <p:nvPr/>
        </p:nvPicPr>
        <p:blipFill rotWithShape="1">
          <a:blip r:embed="rId6">
            <a:alphaModFix/>
          </a:blip>
          <a:srcRect/>
          <a:stretch/>
        </p:blipFill>
        <p:spPr>
          <a:xfrm>
            <a:off x="571500" y="4229100"/>
            <a:ext cx="95250" cy="200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pic>
        <p:nvPicPr>
          <p:cNvPr id="218" name="Google Shape;21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p:cNvPicPr preferRelativeResize="0"/>
          <p:nvPr/>
        </p:nvPicPr>
        <p:blipFill rotWithShape="1">
          <a:blip r:embed="rId4">
            <a:alphaModFix/>
          </a:blip>
          <a:srcRect/>
          <a:stretch/>
        </p:blipFill>
        <p:spPr>
          <a:xfrm>
            <a:off x="5619750" y="1321147"/>
            <a:ext cx="952500" cy="762000"/>
          </a:xfrm>
          <a:prstGeom prst="rect">
            <a:avLst/>
          </a:prstGeom>
          <a:noFill/>
          <a:ln>
            <a:noFill/>
          </a:ln>
        </p:spPr>
      </p:pic>
      <p:sp>
        <p:nvSpPr>
          <p:cNvPr id="220" name="Google Shape;220;p21"/>
          <p:cNvSpPr txBox="1"/>
          <p:nvPr/>
        </p:nvSpPr>
        <p:spPr>
          <a:xfrm>
            <a:off x="1630441" y="2368897"/>
            <a:ext cx="8931116" cy="904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0F172A"/>
                </a:solidFill>
                <a:latin typeface="Poppins"/>
                <a:ea typeface="Poppins"/>
                <a:cs typeface="Poppins"/>
                <a:sym typeface="Poppins"/>
              </a:rPr>
              <a:t>Demonstrasi Produk Nyata</a:t>
            </a:r>
            <a:endParaRPr/>
          </a:p>
        </p:txBody>
      </p:sp>
      <p:sp>
        <p:nvSpPr>
          <p:cNvPr id="221" name="Google Shape;221;p21"/>
          <p:cNvSpPr/>
          <p:nvPr/>
        </p:nvSpPr>
        <p:spPr>
          <a:xfrm>
            <a:off x="5524500" y="3750022"/>
            <a:ext cx="1143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1"/>
          <p:cNvSpPr txBox="1"/>
          <p:nvPr/>
        </p:nvSpPr>
        <p:spPr>
          <a:xfrm>
            <a:off x="2286000" y="4092922"/>
            <a:ext cx="7620000" cy="85338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475569"/>
                </a:solidFill>
                <a:latin typeface="Lato"/>
                <a:ea typeface="Lato"/>
                <a:cs typeface="Lato"/>
                <a:sym typeface="Lato"/>
              </a:rPr>
              <a:t>Implementasi AI menjadi produk Web MVP (Minimum Viable Product) yang siap pakai menggunakan framework Streamlit.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CE50F029-07DD-3B3E-1FD1-151787B7AF95}"/>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4A86AE35-8F62-9236-F433-2E65524BB6F1}"/>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B18D838D-C18D-7926-71F1-11CD8455F5A5}"/>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80A3A01B-45FE-09B0-ACD2-8CBC51167C73}"/>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3" name="Picture 2">
            <a:extLst>
              <a:ext uri="{FF2B5EF4-FFF2-40B4-BE49-F238E27FC236}">
                <a16:creationId xmlns:a16="http://schemas.microsoft.com/office/drawing/2014/main" id="{3403B466-F51D-D3E7-AF8D-5B1DF9558A5C}"/>
              </a:ext>
            </a:extLst>
          </p:cNvPr>
          <p:cNvPicPr>
            <a:picLocks noChangeAspect="1"/>
          </p:cNvPicPr>
          <p:nvPr/>
        </p:nvPicPr>
        <p:blipFill>
          <a:blip r:embed="rId5"/>
          <a:stretch>
            <a:fillRect/>
          </a:stretch>
        </p:blipFill>
        <p:spPr>
          <a:xfrm>
            <a:off x="467867" y="1583562"/>
            <a:ext cx="11256264" cy="5274438"/>
          </a:xfrm>
          <a:prstGeom prst="rect">
            <a:avLst/>
          </a:prstGeom>
        </p:spPr>
      </p:pic>
    </p:spTree>
    <p:extLst>
      <p:ext uri="{BB962C8B-B14F-4D97-AF65-F5344CB8AC3E}">
        <p14:creationId xmlns:p14="http://schemas.microsoft.com/office/powerpoint/2010/main" val="1537022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E3DB4572-73C5-4E3F-7022-AFA1161457FC}"/>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E85BD213-760C-0B63-4BCE-D55A68CC177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AEF375F0-126F-4F5F-5636-6830A9A52052}"/>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3F9C625C-F666-4637-832B-041AC56878DF}"/>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2" name="Picture 1">
            <a:extLst>
              <a:ext uri="{FF2B5EF4-FFF2-40B4-BE49-F238E27FC236}">
                <a16:creationId xmlns:a16="http://schemas.microsoft.com/office/drawing/2014/main" id="{68C39165-0958-6AF9-E159-868308ADD0E2}"/>
              </a:ext>
            </a:extLst>
          </p:cNvPr>
          <p:cNvPicPr>
            <a:picLocks noChangeAspect="1"/>
          </p:cNvPicPr>
          <p:nvPr/>
        </p:nvPicPr>
        <p:blipFill>
          <a:blip r:embed="rId5"/>
          <a:stretch>
            <a:fillRect/>
          </a:stretch>
        </p:blipFill>
        <p:spPr>
          <a:xfrm>
            <a:off x="467399" y="1523739"/>
            <a:ext cx="11257200" cy="5334261"/>
          </a:xfrm>
          <a:prstGeom prst="rect">
            <a:avLst/>
          </a:prstGeom>
        </p:spPr>
      </p:pic>
    </p:spTree>
    <p:extLst>
      <p:ext uri="{BB962C8B-B14F-4D97-AF65-F5344CB8AC3E}">
        <p14:creationId xmlns:p14="http://schemas.microsoft.com/office/powerpoint/2010/main" val="210152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C3204D83-9765-F72E-C3EA-9485E3536678}"/>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23BB4DCE-12E1-C5F8-603E-3CCAC553A8F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7220CD81-AC97-0C6C-F9BA-6CA213A5AC25}"/>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F9B64445-21E5-3DF9-3DF8-3E7E73BA5167}"/>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2" name="Picture 1">
            <a:extLst>
              <a:ext uri="{FF2B5EF4-FFF2-40B4-BE49-F238E27FC236}">
                <a16:creationId xmlns:a16="http://schemas.microsoft.com/office/drawing/2014/main" id="{377E1454-5F51-1106-2694-38E7572248C4}"/>
              </a:ext>
            </a:extLst>
          </p:cNvPr>
          <p:cNvPicPr>
            <a:picLocks noChangeAspect="1"/>
          </p:cNvPicPr>
          <p:nvPr/>
        </p:nvPicPr>
        <p:blipFill>
          <a:blip r:embed="rId5"/>
          <a:stretch>
            <a:fillRect/>
          </a:stretch>
        </p:blipFill>
        <p:spPr>
          <a:xfrm>
            <a:off x="467399" y="1532469"/>
            <a:ext cx="11257200" cy="5325531"/>
          </a:xfrm>
          <a:prstGeom prst="rect">
            <a:avLst/>
          </a:prstGeom>
        </p:spPr>
      </p:pic>
    </p:spTree>
    <p:extLst>
      <p:ext uri="{BB962C8B-B14F-4D97-AF65-F5344CB8AC3E}">
        <p14:creationId xmlns:p14="http://schemas.microsoft.com/office/powerpoint/2010/main" val="67266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1A7BAEDF-416C-4084-01BF-07E050B4B709}"/>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55D97A65-70F5-EF3E-FC60-215091E2565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57E7839D-2EA5-14B2-1848-2C9A17AB4F11}"/>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425FAC20-6B02-7AA0-2BD8-7128CFDAEA04}"/>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2" name="Picture 1">
            <a:extLst>
              <a:ext uri="{FF2B5EF4-FFF2-40B4-BE49-F238E27FC236}">
                <a16:creationId xmlns:a16="http://schemas.microsoft.com/office/drawing/2014/main" id="{BA096CC1-63EB-D5E6-19DE-ADC9972D50D3}"/>
              </a:ext>
            </a:extLst>
          </p:cNvPr>
          <p:cNvPicPr>
            <a:picLocks noChangeAspect="1"/>
          </p:cNvPicPr>
          <p:nvPr/>
        </p:nvPicPr>
        <p:blipFill>
          <a:blip r:embed="rId5"/>
          <a:stretch>
            <a:fillRect/>
          </a:stretch>
        </p:blipFill>
        <p:spPr>
          <a:xfrm>
            <a:off x="467399" y="1523876"/>
            <a:ext cx="11257200" cy="5331767"/>
          </a:xfrm>
          <a:prstGeom prst="rect">
            <a:avLst/>
          </a:prstGeom>
        </p:spPr>
      </p:pic>
    </p:spTree>
    <p:extLst>
      <p:ext uri="{BB962C8B-B14F-4D97-AF65-F5344CB8AC3E}">
        <p14:creationId xmlns:p14="http://schemas.microsoft.com/office/powerpoint/2010/main" val="332392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678C772E-06A2-C0F6-35E4-12AA8CE7F4A9}"/>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F2C9A276-180E-806C-8EA7-B536B81FDE7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39A84AC9-D286-A4EA-F460-479836DE3EE9}"/>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9F8AC355-FE25-CC3B-5B46-280CC5964ADC}"/>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2" name="Picture 1">
            <a:extLst>
              <a:ext uri="{FF2B5EF4-FFF2-40B4-BE49-F238E27FC236}">
                <a16:creationId xmlns:a16="http://schemas.microsoft.com/office/drawing/2014/main" id="{8437960E-E365-14BE-3A9D-E8B0E50DCFF5}"/>
              </a:ext>
            </a:extLst>
          </p:cNvPr>
          <p:cNvPicPr>
            <a:picLocks noChangeAspect="1"/>
          </p:cNvPicPr>
          <p:nvPr/>
        </p:nvPicPr>
        <p:blipFill>
          <a:blip r:embed="rId5"/>
          <a:stretch>
            <a:fillRect/>
          </a:stretch>
        </p:blipFill>
        <p:spPr>
          <a:xfrm>
            <a:off x="467400" y="1541491"/>
            <a:ext cx="11201821" cy="5331600"/>
          </a:xfrm>
          <a:prstGeom prst="rect">
            <a:avLst/>
          </a:prstGeom>
        </p:spPr>
      </p:pic>
    </p:spTree>
    <p:extLst>
      <p:ext uri="{BB962C8B-B14F-4D97-AF65-F5344CB8AC3E}">
        <p14:creationId xmlns:p14="http://schemas.microsoft.com/office/powerpoint/2010/main" val="1450056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50D1F647-BBE4-1E32-5963-7017018E9CAC}"/>
            </a:ext>
          </a:extLst>
        </p:cNvPr>
        <p:cNvGrpSpPr/>
        <p:nvPr/>
      </p:nvGrpSpPr>
      <p:grpSpPr>
        <a:xfrm>
          <a:off x="0" y="0"/>
          <a:ext cx="0" cy="0"/>
          <a:chOff x="0" y="0"/>
          <a:chExt cx="0" cy="0"/>
        </a:xfrm>
      </p:grpSpPr>
      <p:pic>
        <p:nvPicPr>
          <p:cNvPr id="218" name="Google Shape;218;p21" descr="image.png">
            <a:extLst>
              <a:ext uri="{FF2B5EF4-FFF2-40B4-BE49-F238E27FC236}">
                <a16:creationId xmlns:a16="http://schemas.microsoft.com/office/drawing/2014/main" id="{9DC3C371-205A-1988-A25F-0707DF07A90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21" descr="image.png">
            <a:extLst>
              <a:ext uri="{FF2B5EF4-FFF2-40B4-BE49-F238E27FC236}">
                <a16:creationId xmlns:a16="http://schemas.microsoft.com/office/drawing/2014/main" id="{67BF17AF-D3F7-C244-CE6A-E06F6497C617}"/>
              </a:ext>
            </a:extLst>
          </p:cNvPr>
          <p:cNvPicPr preferRelativeResize="0"/>
          <p:nvPr/>
        </p:nvPicPr>
        <p:blipFill rotWithShape="1">
          <a:blip r:embed="rId4">
            <a:alphaModFix/>
          </a:blip>
          <a:srcRect/>
          <a:stretch/>
        </p:blipFill>
        <p:spPr>
          <a:xfrm>
            <a:off x="5619749" y="41449"/>
            <a:ext cx="952500" cy="762000"/>
          </a:xfrm>
          <a:prstGeom prst="rect">
            <a:avLst/>
          </a:prstGeom>
          <a:noFill/>
          <a:ln>
            <a:noFill/>
          </a:ln>
        </p:spPr>
      </p:pic>
      <p:sp>
        <p:nvSpPr>
          <p:cNvPr id="220" name="Google Shape;220;p21">
            <a:extLst>
              <a:ext uri="{FF2B5EF4-FFF2-40B4-BE49-F238E27FC236}">
                <a16:creationId xmlns:a16="http://schemas.microsoft.com/office/drawing/2014/main" id="{BB1538D2-D0B9-FE35-01BF-172620333BAD}"/>
              </a:ext>
            </a:extLst>
          </p:cNvPr>
          <p:cNvSpPr txBox="1"/>
          <p:nvPr/>
        </p:nvSpPr>
        <p:spPr>
          <a:xfrm>
            <a:off x="1630441" y="844898"/>
            <a:ext cx="8931116"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F172A"/>
                </a:solidFill>
                <a:latin typeface="Poppins"/>
                <a:ea typeface="Poppins"/>
                <a:cs typeface="Poppins"/>
                <a:sym typeface="Poppins"/>
              </a:rPr>
              <a:t>Demonstrasi</a:t>
            </a:r>
            <a:r>
              <a:rPr lang="en-US" sz="4800" b="1" i="0" u="none" strike="noStrike" cap="none" dirty="0">
                <a:solidFill>
                  <a:srgbClr val="0F172A"/>
                </a:solidFill>
                <a:latin typeface="Poppins"/>
                <a:ea typeface="Poppins"/>
                <a:cs typeface="Poppins"/>
                <a:sym typeface="Poppins"/>
              </a:rPr>
              <a:t> </a:t>
            </a:r>
            <a:r>
              <a:rPr lang="en-US" sz="4800" b="1" i="0" u="none" strike="noStrike" cap="none" dirty="0" err="1">
                <a:solidFill>
                  <a:srgbClr val="0F172A"/>
                </a:solidFill>
                <a:latin typeface="Poppins"/>
                <a:ea typeface="Poppins"/>
                <a:cs typeface="Poppins"/>
                <a:sym typeface="Poppins"/>
              </a:rPr>
              <a:t>Produk</a:t>
            </a:r>
            <a:endParaRPr dirty="0"/>
          </a:p>
        </p:txBody>
      </p:sp>
      <p:pic>
        <p:nvPicPr>
          <p:cNvPr id="2" name="Picture 1">
            <a:extLst>
              <a:ext uri="{FF2B5EF4-FFF2-40B4-BE49-F238E27FC236}">
                <a16:creationId xmlns:a16="http://schemas.microsoft.com/office/drawing/2014/main" id="{2F9BBFB2-0CA9-8D9F-E867-5CC23FB1CF3D}"/>
              </a:ext>
            </a:extLst>
          </p:cNvPr>
          <p:cNvPicPr>
            <a:picLocks noChangeAspect="1"/>
          </p:cNvPicPr>
          <p:nvPr/>
        </p:nvPicPr>
        <p:blipFill>
          <a:blip r:embed="rId5"/>
          <a:stretch>
            <a:fillRect/>
          </a:stretch>
        </p:blipFill>
        <p:spPr>
          <a:xfrm>
            <a:off x="449082" y="1526400"/>
            <a:ext cx="11293833" cy="5331600"/>
          </a:xfrm>
          <a:prstGeom prst="rect">
            <a:avLst/>
          </a:prstGeom>
        </p:spPr>
      </p:pic>
    </p:spTree>
    <p:extLst>
      <p:ext uri="{BB962C8B-B14F-4D97-AF65-F5344CB8AC3E}">
        <p14:creationId xmlns:p14="http://schemas.microsoft.com/office/powerpoint/2010/main" val="3594281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
        <p:cNvGrpSpPr/>
        <p:nvPr/>
      </p:nvGrpSpPr>
      <p:grpSpPr>
        <a:xfrm>
          <a:off x="0" y="0"/>
          <a:ext cx="0" cy="0"/>
          <a:chOff x="0" y="0"/>
          <a:chExt cx="0" cy="0"/>
        </a:xfrm>
      </p:grpSpPr>
      <p:pic>
        <p:nvPicPr>
          <p:cNvPr id="228" name="Google Shape;228;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9" name="Google Shape;229;p22" descr="image.png"/>
          <p:cNvPicPr preferRelativeResize="0"/>
          <p:nvPr/>
        </p:nvPicPr>
        <p:blipFill rotWithShape="1">
          <a:blip r:embed="rId4">
            <a:alphaModFix/>
          </a:blip>
          <a:srcRect/>
          <a:stretch/>
        </p:blipFill>
        <p:spPr>
          <a:xfrm>
            <a:off x="571500" y="1551682"/>
            <a:ext cx="5286375" cy="2990850"/>
          </a:xfrm>
          <a:prstGeom prst="rect">
            <a:avLst/>
          </a:prstGeom>
          <a:noFill/>
          <a:ln>
            <a:noFill/>
          </a:ln>
        </p:spPr>
      </p:pic>
      <p:pic>
        <p:nvPicPr>
          <p:cNvPr id="230" name="Google Shape;230;p22" descr="image.png"/>
          <p:cNvPicPr preferRelativeResize="0"/>
          <p:nvPr/>
        </p:nvPicPr>
        <p:blipFill rotWithShape="1">
          <a:blip r:embed="rId5">
            <a:alphaModFix/>
          </a:blip>
          <a:srcRect/>
          <a:stretch/>
        </p:blipFill>
        <p:spPr>
          <a:xfrm>
            <a:off x="6334125" y="1551682"/>
            <a:ext cx="5286375" cy="2990850"/>
          </a:xfrm>
          <a:prstGeom prst="rect">
            <a:avLst/>
          </a:prstGeom>
          <a:noFill/>
          <a:ln>
            <a:noFill/>
          </a:ln>
        </p:spPr>
      </p:pic>
      <p:sp>
        <p:nvSpPr>
          <p:cNvPr id="231" name="Google Shape;231;p22"/>
          <p:cNvSpPr txBox="1"/>
          <p:nvPr/>
        </p:nvSpPr>
        <p:spPr>
          <a:xfrm>
            <a:off x="4915852" y="5114032"/>
            <a:ext cx="2360295" cy="523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700" b="0" i="0" u="none" strike="noStrike" cap="none">
                <a:solidFill>
                  <a:srgbClr val="0F172A"/>
                </a:solidFill>
                <a:latin typeface="Poppins SemiBold"/>
                <a:ea typeface="Poppins SemiBold"/>
                <a:cs typeface="Poppins SemiBold"/>
                <a:sym typeface="Poppins SemiBold"/>
              </a:rPr>
              <a:t>Terima Kasih</a:t>
            </a:r>
            <a:endParaRPr/>
          </a:p>
        </p:txBody>
      </p:sp>
      <p:sp>
        <p:nvSpPr>
          <p:cNvPr id="232" name="Google Shape;232;p22"/>
          <p:cNvSpPr txBox="1"/>
          <p:nvPr/>
        </p:nvSpPr>
        <p:spPr>
          <a:xfrm>
            <a:off x="4972050" y="5780782"/>
            <a:ext cx="22479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475569"/>
                </a:solidFill>
                <a:latin typeface="Lato"/>
                <a:ea typeface="Lato"/>
                <a:cs typeface="Lato"/>
                <a:sym typeface="Lato"/>
              </a:rPr>
              <a:t>Sesi Tanya Jawab</a:t>
            </a:r>
            <a:endParaRPr/>
          </a:p>
        </p:txBody>
      </p:sp>
      <p:sp>
        <p:nvSpPr>
          <p:cNvPr id="233" name="Google Shape;233;p22"/>
          <p:cNvSpPr txBox="1"/>
          <p:nvPr/>
        </p:nvSpPr>
        <p:spPr>
          <a:xfrm>
            <a:off x="962025" y="1942207"/>
            <a:ext cx="4730591" cy="400050"/>
          </a:xfrm>
          <a:prstGeom prst="rect">
            <a:avLst/>
          </a:prstGeom>
          <a:noFill/>
          <a:ln>
            <a:noFill/>
          </a:ln>
        </p:spPr>
        <p:txBody>
          <a:bodyPr spcFirstLastPara="1" wrap="square" lIns="361950"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a:ea typeface="Poppins SemiBold"/>
                <a:cs typeface="Poppins SemiBold"/>
                <a:sym typeface="Poppins SemiBold"/>
              </a:rPr>
              <a:t>Kesimpulan</a:t>
            </a:r>
            <a:endParaRPr/>
          </a:p>
        </p:txBody>
      </p:sp>
      <p:sp>
        <p:nvSpPr>
          <p:cNvPr id="234" name="Google Shape;234;p22"/>
          <p:cNvSpPr txBox="1"/>
          <p:nvPr/>
        </p:nvSpPr>
        <p:spPr>
          <a:xfrm>
            <a:off x="962025" y="2485132"/>
            <a:ext cx="450532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a:ea typeface="Lato"/>
                <a:cs typeface="Lato"/>
                <a:sym typeface="Lato"/>
              </a:rPr>
              <a:t>Arsitektur gabungan Triple Ensemble terbukti sukses membedakan klasifikasi detak jantung normal dan abnormal secara superior. Model ini berhasil melampaui tolok ukur standar algoritma global untuk dataset PCG.</a:t>
            </a:r>
            <a:endParaRPr/>
          </a:p>
        </p:txBody>
      </p:sp>
      <p:sp>
        <p:nvSpPr>
          <p:cNvPr id="235" name="Google Shape;235;p22"/>
          <p:cNvSpPr txBox="1"/>
          <p:nvPr/>
        </p:nvSpPr>
        <p:spPr>
          <a:xfrm>
            <a:off x="6724650" y="1942207"/>
            <a:ext cx="4730591" cy="400050"/>
          </a:xfrm>
          <a:prstGeom prst="rect">
            <a:avLst/>
          </a:prstGeom>
          <a:noFill/>
          <a:ln>
            <a:noFill/>
          </a:ln>
        </p:spPr>
        <p:txBody>
          <a:bodyPr spcFirstLastPara="1" wrap="square" lIns="295275" tIns="0" rIns="0" bIns="0" anchor="t" anchorCtr="0">
            <a:spAutoFit/>
          </a:bodyPr>
          <a:lstStyle/>
          <a:p>
            <a:pPr marL="0" marR="0" lvl="0" indent="0" algn="l" rtl="0">
              <a:spcBef>
                <a:spcPts val="0"/>
              </a:spcBef>
              <a:spcAft>
                <a:spcPts val="0"/>
              </a:spcAft>
              <a:buNone/>
            </a:pPr>
            <a:r>
              <a:rPr lang="en-US" sz="2100" b="0" i="0" u="none" strike="noStrike" cap="none">
                <a:solidFill>
                  <a:srgbClr val="0284C7"/>
                </a:solidFill>
                <a:latin typeface="Poppins SemiBold"/>
                <a:ea typeface="Poppins SemiBold"/>
                <a:cs typeface="Poppins SemiBold"/>
                <a:sym typeface="Poppins SemiBold"/>
              </a:rPr>
              <a:t>Rekomendasi Riset Lanjutan</a:t>
            </a:r>
            <a:endParaRPr/>
          </a:p>
        </p:txBody>
      </p:sp>
      <p:sp>
        <p:nvSpPr>
          <p:cNvPr id="236" name="Google Shape;236;p22"/>
          <p:cNvSpPr txBox="1"/>
          <p:nvPr/>
        </p:nvSpPr>
        <p:spPr>
          <a:xfrm>
            <a:off x="6724650" y="2485132"/>
            <a:ext cx="450532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Lato"/>
                <a:ea typeface="Lato"/>
                <a:cs typeface="Lato"/>
                <a:sym typeface="Lato"/>
              </a:rPr>
              <a:t>Di masa depan, model ini perlu divalidasi melalui uji klinis langsung di Rumah Sakit Indonesia. Selain itu, model dapat dioptimasi dan ditanamkan ke dalam Aplikasi Mobile (Edge Computing) untuk membantu dokter di daerah pelosok.</a:t>
            </a:r>
            <a:endParaRPr/>
          </a:p>
        </p:txBody>
      </p:sp>
      <p:pic>
        <p:nvPicPr>
          <p:cNvPr id="237" name="Google Shape;237;p22" descr="image.png"/>
          <p:cNvPicPr preferRelativeResize="0"/>
          <p:nvPr/>
        </p:nvPicPr>
        <p:blipFill rotWithShape="1">
          <a:blip r:embed="rId6">
            <a:alphaModFix/>
          </a:blip>
          <a:srcRect/>
          <a:stretch/>
        </p:blipFill>
        <p:spPr>
          <a:xfrm>
            <a:off x="962025" y="1999357"/>
            <a:ext cx="266700" cy="266700"/>
          </a:xfrm>
          <a:prstGeom prst="rect">
            <a:avLst/>
          </a:prstGeom>
          <a:noFill/>
          <a:ln>
            <a:noFill/>
          </a:ln>
        </p:spPr>
      </p:pic>
      <p:pic>
        <p:nvPicPr>
          <p:cNvPr id="238" name="Google Shape;238;p22" descr="image.png"/>
          <p:cNvPicPr preferRelativeResize="0"/>
          <p:nvPr/>
        </p:nvPicPr>
        <p:blipFill rotWithShape="1">
          <a:blip r:embed="rId7">
            <a:alphaModFix/>
          </a:blip>
          <a:srcRect/>
          <a:stretch/>
        </p:blipFill>
        <p:spPr>
          <a:xfrm>
            <a:off x="6724650" y="1999357"/>
            <a:ext cx="200025" cy="266700"/>
          </a:xfrm>
          <a:prstGeom prst="rect">
            <a:avLst/>
          </a:prstGeom>
          <a:noFill/>
          <a:ln>
            <a:noFill/>
          </a:ln>
        </p:spPr>
      </p:pic>
      <p:sp>
        <p:nvSpPr>
          <p:cNvPr id="239" name="Google Shape;239;p22"/>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Kesimpulan &amp; Rekomendasi</a:t>
            </a:r>
            <a:endParaRPr/>
          </a:p>
        </p:txBody>
      </p:sp>
      <p:sp>
        <p:nvSpPr>
          <p:cNvPr id="240" name="Google Shape;240;p22"/>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pic>
        <p:nvPicPr>
          <p:cNvPr id="245" name="Google Shape;24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6" name="Google Shape;246;p23"/>
          <p:cNvSpPr/>
          <p:nvPr/>
        </p:nvSpPr>
        <p:spPr>
          <a:xfrm>
            <a:off x="2043112" y="1948011"/>
            <a:ext cx="8105775"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3"/>
          <p:cNvSpPr/>
          <p:nvPr/>
        </p:nvSpPr>
        <p:spPr>
          <a:xfrm>
            <a:off x="2043112" y="2732782"/>
            <a:ext cx="8105775"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3"/>
          <p:cNvSpPr/>
          <p:nvPr/>
        </p:nvSpPr>
        <p:spPr>
          <a:xfrm>
            <a:off x="2043112" y="3517552"/>
            <a:ext cx="8105775"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p:nvPr/>
        </p:nvSpPr>
        <p:spPr>
          <a:xfrm>
            <a:off x="2043112" y="4302323"/>
            <a:ext cx="8105775"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3"/>
          <p:cNvSpPr/>
          <p:nvPr/>
        </p:nvSpPr>
        <p:spPr>
          <a:xfrm>
            <a:off x="2043112" y="2723257"/>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p:cNvSpPr/>
          <p:nvPr/>
        </p:nvSpPr>
        <p:spPr>
          <a:xfrm>
            <a:off x="2043112" y="2723257"/>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2043112" y="3508027"/>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2043112" y="3508027"/>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p:cNvSpPr/>
          <p:nvPr/>
        </p:nvSpPr>
        <p:spPr>
          <a:xfrm>
            <a:off x="2043112" y="4292798"/>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p:nvPr/>
        </p:nvSpPr>
        <p:spPr>
          <a:xfrm>
            <a:off x="2043112" y="4292798"/>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p:cNvSpPr/>
          <p:nvPr/>
        </p:nvSpPr>
        <p:spPr>
          <a:xfrm>
            <a:off x="2043112" y="5077569"/>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p:nvPr/>
        </p:nvSpPr>
        <p:spPr>
          <a:xfrm>
            <a:off x="2043112" y="5077569"/>
            <a:ext cx="810577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8" name="Google Shape;258;p23" descr="image.png"/>
          <p:cNvPicPr preferRelativeResize="0"/>
          <p:nvPr/>
        </p:nvPicPr>
        <p:blipFill rotWithShape="1">
          <a:blip r:embed="rId4">
            <a:alphaModFix/>
          </a:blip>
          <a:srcRect/>
          <a:stretch/>
        </p:blipFill>
        <p:spPr>
          <a:xfrm>
            <a:off x="2043112" y="2097434"/>
            <a:ext cx="857250" cy="476250"/>
          </a:xfrm>
          <a:prstGeom prst="rect">
            <a:avLst/>
          </a:prstGeom>
          <a:noFill/>
          <a:ln>
            <a:noFill/>
          </a:ln>
        </p:spPr>
      </p:pic>
      <p:sp>
        <p:nvSpPr>
          <p:cNvPr id="259" name="Google Shape;259;p23"/>
          <p:cNvSpPr txBox="1"/>
          <p:nvPr/>
        </p:nvSpPr>
        <p:spPr>
          <a:xfrm>
            <a:off x="3138487" y="2090886"/>
            <a:ext cx="70104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Lato"/>
                <a:ea typeface="Lato"/>
                <a:cs typeface="Lato"/>
                <a:sym typeface="Lato"/>
              </a:rPr>
              <a:t>https://moody-challenge.physionet.org/assets/img/ecg-ml.gif</a:t>
            </a:r>
            <a:endParaRPr/>
          </a:p>
        </p:txBody>
      </p:sp>
      <p:sp>
        <p:nvSpPr>
          <p:cNvPr id="260" name="Google Shape;260;p23"/>
          <p:cNvSpPr txBox="1"/>
          <p:nvPr/>
        </p:nvSpPr>
        <p:spPr>
          <a:xfrm>
            <a:off x="3138487" y="2336601"/>
            <a:ext cx="70104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moody-challenge.physionet.org</a:t>
            </a:r>
            <a:endParaRPr/>
          </a:p>
        </p:txBody>
      </p:sp>
      <p:pic>
        <p:nvPicPr>
          <p:cNvPr id="261" name="Google Shape;261;p23" descr="image.png"/>
          <p:cNvPicPr preferRelativeResize="0"/>
          <p:nvPr/>
        </p:nvPicPr>
        <p:blipFill rotWithShape="1">
          <a:blip r:embed="rId5">
            <a:alphaModFix/>
          </a:blip>
          <a:srcRect/>
          <a:stretch/>
        </p:blipFill>
        <p:spPr>
          <a:xfrm>
            <a:off x="2043112" y="2882205"/>
            <a:ext cx="857250" cy="476250"/>
          </a:xfrm>
          <a:prstGeom prst="rect">
            <a:avLst/>
          </a:prstGeom>
          <a:noFill/>
          <a:ln>
            <a:noFill/>
          </a:ln>
        </p:spPr>
      </p:pic>
      <p:sp>
        <p:nvSpPr>
          <p:cNvPr id="262" name="Google Shape;262;p23"/>
          <p:cNvSpPr txBox="1"/>
          <p:nvPr/>
        </p:nvSpPr>
        <p:spPr>
          <a:xfrm>
            <a:off x="3138487" y="2875657"/>
            <a:ext cx="70104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Lato"/>
                <a:ea typeface="Lato"/>
                <a:cs typeface="Lato"/>
                <a:sym typeface="Lato"/>
              </a:rPr>
              <a:t>https://www.mdpi.com/files/uploaded/covers/diagnostics/big_cover-diagnostics-v16-i11.png</a:t>
            </a:r>
            <a:endParaRPr/>
          </a:p>
        </p:txBody>
      </p:sp>
      <p:sp>
        <p:nvSpPr>
          <p:cNvPr id="263" name="Google Shape;263;p23"/>
          <p:cNvSpPr txBox="1"/>
          <p:nvPr/>
        </p:nvSpPr>
        <p:spPr>
          <a:xfrm>
            <a:off x="3138487" y="3121372"/>
            <a:ext cx="70104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www.mdpi.com</a:t>
            </a:r>
            <a:endParaRPr/>
          </a:p>
        </p:txBody>
      </p:sp>
      <p:pic>
        <p:nvPicPr>
          <p:cNvPr id="264" name="Google Shape;264;p23" descr="image.png"/>
          <p:cNvPicPr preferRelativeResize="0"/>
          <p:nvPr/>
        </p:nvPicPr>
        <p:blipFill rotWithShape="1">
          <a:blip r:embed="rId6">
            <a:alphaModFix/>
          </a:blip>
          <a:srcRect/>
          <a:stretch/>
        </p:blipFill>
        <p:spPr>
          <a:xfrm>
            <a:off x="2043112" y="3666976"/>
            <a:ext cx="857250" cy="476250"/>
          </a:xfrm>
          <a:prstGeom prst="rect">
            <a:avLst/>
          </a:prstGeom>
          <a:noFill/>
          <a:ln>
            <a:noFill/>
          </a:ln>
        </p:spPr>
      </p:pic>
      <p:sp>
        <p:nvSpPr>
          <p:cNvPr id="265" name="Google Shape;265;p23"/>
          <p:cNvSpPr txBox="1"/>
          <p:nvPr/>
        </p:nvSpPr>
        <p:spPr>
          <a:xfrm>
            <a:off x="3138487" y="3660427"/>
            <a:ext cx="70104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Lato"/>
                <a:ea typeface="Lato"/>
                <a:cs typeface="Lato"/>
                <a:sym typeface="Lato"/>
              </a:rPr>
              <a:t>https://www.mdpi.com/children/children-12-01221/article_deploy/html/images/children-12-01221-g003.png</a:t>
            </a:r>
            <a:endParaRPr/>
          </a:p>
        </p:txBody>
      </p:sp>
      <p:sp>
        <p:nvSpPr>
          <p:cNvPr id="266" name="Google Shape;266;p23"/>
          <p:cNvSpPr txBox="1"/>
          <p:nvPr/>
        </p:nvSpPr>
        <p:spPr>
          <a:xfrm>
            <a:off x="3138487" y="3906142"/>
            <a:ext cx="70104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www.mdpi.com</a:t>
            </a:r>
            <a:endParaRPr/>
          </a:p>
        </p:txBody>
      </p:sp>
      <p:pic>
        <p:nvPicPr>
          <p:cNvPr id="267" name="Google Shape;267;p23" descr="image.png"/>
          <p:cNvPicPr preferRelativeResize="0"/>
          <p:nvPr/>
        </p:nvPicPr>
        <p:blipFill rotWithShape="1">
          <a:blip r:embed="rId7">
            <a:alphaModFix/>
          </a:blip>
          <a:srcRect/>
          <a:stretch/>
        </p:blipFill>
        <p:spPr>
          <a:xfrm>
            <a:off x="2043112" y="4451746"/>
            <a:ext cx="2105025" cy="609600"/>
          </a:xfrm>
          <a:prstGeom prst="rect">
            <a:avLst/>
          </a:prstGeom>
          <a:noFill/>
          <a:ln>
            <a:noFill/>
          </a:ln>
        </p:spPr>
      </p:pic>
      <p:sp>
        <p:nvSpPr>
          <p:cNvPr id="268" name="Google Shape;268;p23"/>
          <p:cNvSpPr txBox="1"/>
          <p:nvPr/>
        </p:nvSpPr>
        <p:spPr>
          <a:xfrm>
            <a:off x="3138487" y="4445198"/>
            <a:ext cx="70104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Lato"/>
                <a:ea typeface="Lato"/>
                <a:cs typeface="Lato"/>
                <a:sym typeface="Lato"/>
              </a:rPr>
              <a:t>https://cdn.wpfastestcache.com/wp-content/uploads/2026/06/evaluating-machine-learning-models-with-a-confusion-matrix.jpg</a:t>
            </a:r>
            <a:endParaRPr/>
          </a:p>
        </p:txBody>
      </p:sp>
      <p:sp>
        <p:nvSpPr>
          <p:cNvPr id="269" name="Google Shape;269;p23"/>
          <p:cNvSpPr txBox="1"/>
          <p:nvPr/>
        </p:nvSpPr>
        <p:spPr>
          <a:xfrm>
            <a:off x="3138487" y="4690913"/>
            <a:ext cx="70104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www.wpfastestcache.com</a:t>
            </a:r>
            <a:endParaRPr/>
          </a:p>
        </p:txBody>
      </p:sp>
      <p:pic>
        <p:nvPicPr>
          <p:cNvPr id="270" name="Google Shape;270;p23" descr="image.png"/>
          <p:cNvPicPr preferRelativeResize="0"/>
          <p:nvPr/>
        </p:nvPicPr>
        <p:blipFill rotWithShape="1">
          <a:blip r:embed="rId8">
            <a:alphaModFix/>
          </a:blip>
          <a:srcRect/>
          <a:stretch/>
        </p:blipFill>
        <p:spPr>
          <a:xfrm>
            <a:off x="2043112" y="5236517"/>
            <a:ext cx="857250" cy="476250"/>
          </a:xfrm>
          <a:prstGeom prst="rect">
            <a:avLst/>
          </a:prstGeom>
          <a:noFill/>
          <a:ln>
            <a:noFill/>
          </a:ln>
        </p:spPr>
      </p:pic>
      <p:sp>
        <p:nvSpPr>
          <p:cNvPr id="271" name="Google Shape;271;p23"/>
          <p:cNvSpPr txBox="1"/>
          <p:nvPr/>
        </p:nvSpPr>
        <p:spPr>
          <a:xfrm>
            <a:off x="3138487" y="5229969"/>
            <a:ext cx="7010400"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475569"/>
                </a:solidFill>
                <a:latin typeface="Lato"/>
                <a:ea typeface="Lato"/>
                <a:cs typeface="Lato"/>
                <a:sym typeface="Lato"/>
              </a:rPr>
              <a:t>https://christophm.github.io/interpretable-ml-book/images/shap-clustering.jpg</a:t>
            </a:r>
            <a:endParaRPr/>
          </a:p>
        </p:txBody>
      </p:sp>
      <p:sp>
        <p:nvSpPr>
          <p:cNvPr id="272" name="Google Shape;272;p23"/>
          <p:cNvSpPr txBox="1"/>
          <p:nvPr/>
        </p:nvSpPr>
        <p:spPr>
          <a:xfrm>
            <a:off x="3138487" y="5475684"/>
            <a:ext cx="70104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Source: </a:t>
            </a:r>
            <a:r>
              <a:rPr lang="en-US" sz="1200" b="0" i="0" u="none" strike="noStrike" cap="none">
                <a:solidFill>
                  <a:srgbClr val="4F46E5"/>
                </a:solidFill>
                <a:latin typeface="Lato"/>
                <a:ea typeface="Lato"/>
                <a:cs typeface="Lato"/>
                <a:sym typeface="Lato"/>
              </a:rPr>
              <a:t>christophm.github.io</a:t>
            </a:r>
            <a:endParaRPr/>
          </a:p>
        </p:txBody>
      </p:sp>
      <p:sp>
        <p:nvSpPr>
          <p:cNvPr id="273" name="Google Shape;273;p23"/>
          <p:cNvSpPr txBox="1"/>
          <p:nvPr/>
        </p:nvSpPr>
        <p:spPr>
          <a:xfrm>
            <a:off x="714375" y="571500"/>
            <a:ext cx="114514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0F172A"/>
                </a:solidFill>
                <a:latin typeface="Poppins SemiBold"/>
                <a:ea typeface="Poppins SemiBold"/>
                <a:cs typeface="Poppins SemiBold"/>
                <a:sym typeface="Poppins SemiBold"/>
              </a:rPr>
              <a:t>Image Sources</a:t>
            </a:r>
            <a:endParaRPr/>
          </a:p>
        </p:txBody>
      </p:sp>
      <p:sp>
        <p:nvSpPr>
          <p:cNvPr id="274" name="Google Shape;274;p23"/>
          <p:cNvSpPr/>
          <p:nvPr/>
        </p:nvSpPr>
        <p:spPr>
          <a:xfrm>
            <a:off x="571500" y="571500"/>
            <a:ext cx="57150" cy="5715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775</Words>
  <Application>Microsoft Office PowerPoint</Application>
  <PresentationFormat>Widescreen</PresentationFormat>
  <Paragraphs>68</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Poppins SemiBold</vt:lpstr>
      <vt:lpstr>Lato</vt:lpstr>
      <vt:lpstr>Calibri</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Ahmad Fauzi</cp:lastModifiedBy>
  <cp:revision>2</cp:revision>
  <dcterms:modified xsi:type="dcterms:W3CDTF">2026-07-14T11:25:51Z</dcterms:modified>
</cp:coreProperties>
</file>